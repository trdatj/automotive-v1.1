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Merriweather Medium"/>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6" roundtripDataSignature="AMtx7mj1iD2teCnlyNHNp31W5S9HuCaf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erriweatherMedium-bold.fntdata"/><Relationship Id="rId10" Type="http://schemas.openxmlformats.org/officeDocument/2006/relationships/slide" Target="slides/slide5.xml"/><Relationship Id="rId32" Type="http://schemas.openxmlformats.org/officeDocument/2006/relationships/font" Target="fonts/MerriweatherMedium-regular.fntdata"/><Relationship Id="rId13" Type="http://schemas.openxmlformats.org/officeDocument/2006/relationships/slide" Target="slides/slide8.xml"/><Relationship Id="rId35" Type="http://schemas.openxmlformats.org/officeDocument/2006/relationships/font" Target="fonts/MerriweatherMedium-boldItalic.fntdata"/><Relationship Id="rId12" Type="http://schemas.openxmlformats.org/officeDocument/2006/relationships/slide" Target="slides/slide7.xml"/><Relationship Id="rId34" Type="http://schemas.openxmlformats.org/officeDocument/2006/relationships/font" Target="fonts/MerriweatherMedium-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 name="Google Shape;62;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40d0db00c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40d0db00ce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3031208b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73031208b6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3031208b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373031208b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3031208b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73031208b6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3031208b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73031208b6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9a455b801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79a455b801_2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9a455b801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79a455b801_2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9a455b801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79a455b801_2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9a455b801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79a455b801_2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9a455b801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79a455b801_2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9a455b801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79a455b801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0edba4fb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40edba4fb2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3031208b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73031208b6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9a455b801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79a455b801_4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8794ccd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88794ccd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9a455b801_9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79a455b801_9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9a455b801_9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79a455b801_9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9a455b801_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79a455b801_9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9a455b801_9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79a455b801_9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9a455b801_9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79a455b801_9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9a455b801_9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79a455b801_9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9a455b801_9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79a455b801_9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9a455b801_9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79a455b801_9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1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Google Shape;14;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2"/>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12"/>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0" name="Google Shape;20;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12"/>
          <p:cNvSpPr/>
          <p:nvPr/>
        </p:nvSpPr>
        <p:spPr>
          <a:xfrm>
            <a:off x="628650" y="44450"/>
            <a:ext cx="8299500" cy="229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 name="Shape 24"/>
        <p:cNvGrpSpPr/>
        <p:nvPr/>
      </p:nvGrpSpPr>
      <p:grpSpPr>
        <a:xfrm>
          <a:off x="0" y="0"/>
          <a:ext cx="0" cy="0"/>
          <a:chOff x="0" y="0"/>
          <a:chExt cx="0" cy="0"/>
        </a:xfrm>
      </p:grpSpPr>
      <p:sp>
        <p:nvSpPr>
          <p:cNvPr id="25" name="Google Shape;25;p13"/>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13"/>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7" name="Google Shape;27;p13"/>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8" name="Google Shape;28;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13"/>
          <p:cNvSpPr/>
          <p:nvPr/>
        </p:nvSpPr>
        <p:spPr>
          <a:xfrm>
            <a:off x="628650" y="44450"/>
            <a:ext cx="8299500" cy="229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2" name="Shape 32"/>
        <p:cNvGrpSpPr/>
        <p:nvPr/>
      </p:nvGrpSpPr>
      <p:grpSpPr>
        <a:xfrm>
          <a:off x="0" y="0"/>
          <a:ext cx="0" cy="0"/>
          <a:chOff x="0" y="0"/>
          <a:chExt cx="0" cy="0"/>
        </a:xfrm>
      </p:grpSpPr>
      <p:sp>
        <p:nvSpPr>
          <p:cNvPr id="33" name="Google Shape;33;p14"/>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14"/>
          <p:cNvSpPr/>
          <p:nvPr>
            <p:ph idx="2" type="pic"/>
          </p:nvPr>
        </p:nvSpPr>
        <p:spPr>
          <a:xfrm>
            <a:off x="3887391" y="740569"/>
            <a:ext cx="4629300" cy="3655200"/>
          </a:xfrm>
          <a:prstGeom prst="rect">
            <a:avLst/>
          </a:prstGeom>
          <a:noFill/>
          <a:ln>
            <a:noFill/>
          </a:ln>
        </p:spPr>
      </p:sp>
      <p:sp>
        <p:nvSpPr>
          <p:cNvPr id="35" name="Google Shape;35;p14"/>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6" name="Google Shape;36;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14"/>
          <p:cNvSpPr/>
          <p:nvPr/>
        </p:nvSpPr>
        <p:spPr>
          <a:xfrm>
            <a:off x="628650" y="44450"/>
            <a:ext cx="8299500" cy="229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15"/>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 name="Google Shape;4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5" name="Google Shape;45;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5"/>
          <p:cNvSpPr/>
          <p:nvPr/>
        </p:nvSpPr>
        <p:spPr>
          <a:xfrm>
            <a:off x="628650" y="44450"/>
            <a:ext cx="8299500" cy="229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16"/>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16"/>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16"/>
          <p:cNvSpPr/>
          <p:nvPr/>
        </p:nvSpPr>
        <p:spPr>
          <a:xfrm>
            <a:off x="628650" y="44450"/>
            <a:ext cx="8299500" cy="229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516600" y="1290300"/>
            <a:ext cx="8110800" cy="14073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115000"/>
              </a:lnSpc>
              <a:spcBef>
                <a:spcPts val="0"/>
              </a:spcBef>
              <a:spcAft>
                <a:spcPts val="0"/>
              </a:spcAft>
              <a:buClr>
                <a:schemeClr val="dk1"/>
              </a:buClr>
              <a:buSzPct val="33319"/>
              <a:buFont typeface="Arial"/>
              <a:buNone/>
            </a:pPr>
            <a:r>
              <a:rPr b="1" lang="en-US" sz="3300">
                <a:solidFill>
                  <a:srgbClr val="FF0000"/>
                </a:solidFill>
                <a:latin typeface="Times New Roman"/>
                <a:ea typeface="Times New Roman"/>
                <a:cs typeface="Times New Roman"/>
                <a:sym typeface="Times New Roman"/>
              </a:rPr>
              <a:t>Thực tập tốt nghiệp</a:t>
            </a:r>
            <a:endParaRPr b="1" sz="3300">
              <a:solidFill>
                <a:srgbClr val="FF0000"/>
              </a:solidFill>
              <a:latin typeface="Times New Roman"/>
              <a:ea typeface="Times New Roman"/>
              <a:cs typeface="Times New Roman"/>
              <a:sym typeface="Times New Roman"/>
            </a:endParaRPr>
          </a:p>
          <a:p>
            <a:pPr indent="0" lvl="0" marL="0" rtl="0" algn="ctr">
              <a:lnSpc>
                <a:spcPct val="115000"/>
              </a:lnSpc>
              <a:spcBef>
                <a:spcPts val="0"/>
              </a:spcBef>
              <a:spcAft>
                <a:spcPts val="0"/>
              </a:spcAft>
              <a:buSzPct val="54997"/>
              <a:buNone/>
            </a:pPr>
            <a:r>
              <a:rPr lang="en-US" sz="2000">
                <a:solidFill>
                  <a:srgbClr val="FF0000"/>
                </a:solidFill>
                <a:latin typeface="Times New Roman"/>
                <a:ea typeface="Times New Roman"/>
                <a:cs typeface="Times New Roman"/>
                <a:sym typeface="Times New Roman"/>
              </a:rPr>
              <a:t>Đề Tài</a:t>
            </a:r>
            <a:r>
              <a:rPr lang="en-US" sz="2000">
                <a:solidFill>
                  <a:srgbClr val="FF0000"/>
                </a:solidFill>
                <a:latin typeface="Times New Roman"/>
                <a:ea typeface="Times New Roman"/>
                <a:cs typeface="Times New Roman"/>
                <a:sym typeface="Times New Roman"/>
              </a:rPr>
              <a:t> :</a:t>
            </a:r>
            <a:r>
              <a:rPr lang="en-US" sz="2761">
                <a:solidFill>
                  <a:srgbClr val="4A86E8"/>
                </a:solidFill>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XÂY DỰNG MÔ HÌNH INSTRUMENT CLUSTER TÍCH HỢP GIAO TIẾP DỮ LIỆU THỜI GIAN THỰC VỚI VI ĐIỀU KHIỂN</a:t>
            </a:r>
            <a:endParaRPr sz="2761">
              <a:solidFill>
                <a:srgbClr val="4A86E8"/>
              </a:solidFill>
              <a:latin typeface="Times New Roman"/>
              <a:ea typeface="Times New Roman"/>
              <a:cs typeface="Times New Roman"/>
              <a:sym typeface="Times New Roman"/>
            </a:endParaRPr>
          </a:p>
        </p:txBody>
      </p:sp>
      <p:sp>
        <p:nvSpPr>
          <p:cNvPr id="59" name="Google Shape;59;p1"/>
          <p:cNvSpPr txBox="1"/>
          <p:nvPr>
            <p:ph idx="1" type="subTitle"/>
          </p:nvPr>
        </p:nvSpPr>
        <p:spPr>
          <a:xfrm>
            <a:off x="1393650" y="3078275"/>
            <a:ext cx="6963300" cy="15006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800"/>
              </a:spcBef>
              <a:spcAft>
                <a:spcPts val="0"/>
              </a:spcAft>
              <a:buSzPts val="1216"/>
              <a:buNone/>
            </a:pPr>
            <a:r>
              <a:rPr lang="en-US">
                <a:latin typeface="Times New Roman"/>
                <a:ea typeface="Times New Roman"/>
                <a:cs typeface="Times New Roman"/>
                <a:sym typeface="Times New Roman"/>
              </a:rPr>
              <a:t>Sinh viên thực hiện</a:t>
            </a:r>
            <a:r>
              <a:rPr lang="en-US">
                <a:latin typeface="Times New Roman"/>
                <a:ea typeface="Times New Roman"/>
                <a:cs typeface="Times New Roman"/>
                <a:sym typeface="Times New Roman"/>
              </a:rPr>
              <a:t> :      Trần Văn Quốc Đạt - 21CE077</a:t>
            </a:r>
            <a:endParaRPr>
              <a:latin typeface="Times New Roman"/>
              <a:ea typeface="Times New Roman"/>
              <a:cs typeface="Times New Roman"/>
              <a:sym typeface="Times New Roman"/>
            </a:endParaRPr>
          </a:p>
          <a:p>
            <a:pPr indent="0" lvl="0" marL="0" rtl="0" algn="l">
              <a:lnSpc>
                <a:spcPct val="70000"/>
              </a:lnSpc>
              <a:spcBef>
                <a:spcPts val="800"/>
              </a:spcBef>
              <a:spcAft>
                <a:spcPts val="0"/>
              </a:spcAft>
              <a:buSzPts val="1216"/>
              <a:buNone/>
            </a:pPr>
            <a:r>
              <a:rPr lang="en-US">
                <a:latin typeface="Times New Roman"/>
                <a:ea typeface="Times New Roman"/>
                <a:cs typeface="Times New Roman"/>
                <a:sym typeface="Times New Roman"/>
              </a:rPr>
              <a:t>Lớp:                                21CE2</a:t>
            </a:r>
            <a:endParaRPr>
              <a:latin typeface="Times New Roman"/>
              <a:ea typeface="Times New Roman"/>
              <a:cs typeface="Times New Roman"/>
              <a:sym typeface="Times New Roman"/>
            </a:endParaRPr>
          </a:p>
          <a:p>
            <a:pPr indent="0" lvl="0" marL="0" rtl="0" algn="l">
              <a:lnSpc>
                <a:spcPct val="70000"/>
              </a:lnSpc>
              <a:spcBef>
                <a:spcPts val="800"/>
              </a:spcBef>
              <a:spcAft>
                <a:spcPts val="0"/>
              </a:spcAft>
              <a:buSzPts val="1216"/>
              <a:buNone/>
            </a:pPr>
            <a:r>
              <a:rPr lang="en-US">
                <a:latin typeface="Times New Roman"/>
                <a:ea typeface="Times New Roman"/>
                <a:cs typeface="Times New Roman"/>
                <a:sym typeface="Times New Roman"/>
              </a:rPr>
              <a:t>GVHD :             		TS. Nguyễn Vũ Anh Quang</a:t>
            </a:r>
            <a:endParaRPr>
              <a:latin typeface="Times New Roman"/>
              <a:ea typeface="Times New Roman"/>
              <a:cs typeface="Times New Roman"/>
              <a:sym typeface="Times New Roman"/>
            </a:endParaRPr>
          </a:p>
          <a:p>
            <a:pPr indent="0" lvl="0" marL="0" rtl="0" algn="l">
              <a:lnSpc>
                <a:spcPct val="70000"/>
              </a:lnSpc>
              <a:spcBef>
                <a:spcPts val="800"/>
              </a:spcBef>
              <a:spcAft>
                <a:spcPts val="0"/>
              </a:spcAft>
              <a:buSzPts val="1216"/>
              <a:buNone/>
            </a:pPr>
            <a:r>
              <a:rPr lang="en-US">
                <a:latin typeface="Times New Roman"/>
                <a:ea typeface="Times New Roman"/>
                <a:cs typeface="Times New Roman"/>
                <a:sym typeface="Times New Roman"/>
              </a:rPr>
              <a:t>Đơn vị thực tập: 		Công ty TNHH Phát triển công nghệ SKYTECH</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nvSpPr>
        <p:spPr>
          <a:xfrm>
            <a:off x="0" y="601650"/>
            <a:ext cx="3709200" cy="542700"/>
          </a:xfrm>
          <a:prstGeom prst="rect">
            <a:avLst/>
          </a:prstGeom>
          <a:noFill/>
          <a:ln>
            <a:noFill/>
          </a:ln>
        </p:spPr>
        <p:txBody>
          <a:bodyPr anchorCtr="0" anchor="t" bIns="91425" lIns="91425" spcFirstLastPara="1" rIns="91425" wrap="square" tIns="91425">
            <a:noAutofit/>
          </a:bodyPr>
          <a:lstStyle/>
          <a:p>
            <a:pPr indent="285750" lvl="0" marL="0" marR="0" rtl="0" algn="l">
              <a:lnSpc>
                <a:spcPct val="100000"/>
              </a:lnSpc>
              <a:spcBef>
                <a:spcPts val="0"/>
              </a:spcBef>
              <a:spcAft>
                <a:spcPts val="0"/>
              </a:spcAft>
              <a:buClr>
                <a:srgbClr val="000000"/>
              </a:buClr>
              <a:buSzPts val="2500"/>
              <a:buFont typeface="Arial"/>
              <a:buNone/>
            </a:pPr>
            <a:r>
              <a:rPr b="1" lang="en-US" sz="2500">
                <a:solidFill>
                  <a:srgbClr val="FF0000"/>
                </a:solidFill>
                <a:latin typeface="Times New Roman"/>
                <a:ea typeface="Times New Roman"/>
                <a:cs typeface="Times New Roman"/>
                <a:sym typeface="Times New Roman"/>
              </a:rPr>
              <a:t>Mục lục</a:t>
            </a:r>
            <a:endParaRPr b="1" i="0" sz="2500" u="none" cap="none" strike="noStrike">
              <a:solidFill>
                <a:srgbClr val="FF0000"/>
              </a:solidFill>
              <a:latin typeface="Times New Roman"/>
              <a:ea typeface="Times New Roman"/>
              <a:cs typeface="Times New Roman"/>
              <a:sym typeface="Times New Roman"/>
            </a:endParaRPr>
          </a:p>
        </p:txBody>
      </p:sp>
      <p:sp>
        <p:nvSpPr>
          <p:cNvPr id="65" name="Google Shape;65;p2"/>
          <p:cNvSpPr txBox="1"/>
          <p:nvPr/>
        </p:nvSpPr>
        <p:spPr>
          <a:xfrm>
            <a:off x="0" y="1144350"/>
            <a:ext cx="9144000" cy="3516900"/>
          </a:xfrm>
          <a:prstGeom prst="rect">
            <a:avLst/>
          </a:prstGeom>
          <a:noFill/>
          <a:ln>
            <a:noFill/>
          </a:ln>
        </p:spPr>
        <p:txBody>
          <a:bodyPr anchorCtr="0" anchor="t" bIns="91425" lIns="91425" spcFirstLastPara="1" rIns="91425" wrap="square" tIns="91425">
            <a:noAutofit/>
          </a:bodyPr>
          <a:lstStyle/>
          <a:p>
            <a:pPr indent="-406400" lvl="0" marL="914400" marR="0" rtl="0" algn="l">
              <a:lnSpc>
                <a:spcPct val="115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Tổng quan đề tài.</a:t>
            </a:r>
            <a:endParaRPr i="0" sz="2800" u="none" cap="none" strike="noStrike">
              <a:solidFill>
                <a:schemeClr val="accent1"/>
              </a:solidFill>
              <a:latin typeface="Times New Roman"/>
              <a:ea typeface="Times New Roman"/>
              <a:cs typeface="Times New Roman"/>
              <a:sym typeface="Times New Roman"/>
            </a:endParaRPr>
          </a:p>
          <a:p>
            <a:pPr indent="-406400" lvl="0" marL="914400" marR="0" rtl="0" algn="l">
              <a:lnSpc>
                <a:spcPct val="115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Cơ sở lý thuyết.</a:t>
            </a:r>
            <a:endParaRPr i="0" sz="2800" u="none" cap="none" strike="noStrike">
              <a:solidFill>
                <a:schemeClr val="accent1"/>
              </a:solidFill>
              <a:latin typeface="Times New Roman"/>
              <a:ea typeface="Times New Roman"/>
              <a:cs typeface="Times New Roman"/>
              <a:sym typeface="Times New Roman"/>
            </a:endParaRPr>
          </a:p>
          <a:p>
            <a:pPr indent="-406400" lvl="0" marL="914400" marR="0" rtl="0" algn="l">
              <a:lnSpc>
                <a:spcPct val="115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Linh kiện sử dụng.</a:t>
            </a:r>
            <a:endParaRPr i="0" sz="2800" u="none" cap="none" strike="noStrike">
              <a:solidFill>
                <a:schemeClr val="accent1"/>
              </a:solidFill>
              <a:latin typeface="Times New Roman"/>
              <a:ea typeface="Times New Roman"/>
              <a:cs typeface="Times New Roman"/>
              <a:sym typeface="Times New Roman"/>
            </a:endParaRPr>
          </a:p>
          <a:p>
            <a:pPr indent="-406400" lvl="0" marL="914400" rtl="0" algn="l">
              <a:lnSpc>
                <a:spcPct val="115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T</a:t>
            </a:r>
            <a:r>
              <a:rPr lang="en-US" sz="2800">
                <a:solidFill>
                  <a:schemeClr val="accent1"/>
                </a:solidFill>
                <a:latin typeface="Times New Roman"/>
                <a:ea typeface="Times New Roman"/>
                <a:cs typeface="Times New Roman"/>
                <a:sym typeface="Times New Roman"/>
              </a:rPr>
              <a:t>hiết kế hệ thống.</a:t>
            </a:r>
            <a:endParaRPr i="0" sz="2800" u="none" cap="none" strike="noStrike">
              <a:solidFill>
                <a:schemeClr val="accent1"/>
              </a:solidFill>
              <a:latin typeface="Times New Roman"/>
              <a:ea typeface="Times New Roman"/>
              <a:cs typeface="Times New Roman"/>
              <a:sym typeface="Times New Roman"/>
            </a:endParaRPr>
          </a:p>
          <a:p>
            <a:pPr indent="-406400" lvl="0" marL="914400" rtl="0" algn="l">
              <a:lnSpc>
                <a:spcPct val="115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Kết quả và đánh giá hiệu suất.</a:t>
            </a:r>
            <a:endParaRPr sz="2800">
              <a:solidFill>
                <a:schemeClr val="accent1"/>
              </a:solidFill>
              <a:latin typeface="Times New Roman"/>
              <a:ea typeface="Times New Roman"/>
              <a:cs typeface="Times New Roman"/>
              <a:sym typeface="Times New Roman"/>
            </a:endParaRPr>
          </a:p>
          <a:p>
            <a:pPr indent="-406400" lvl="0" marL="914400" rtl="0" algn="l">
              <a:lnSpc>
                <a:spcPct val="115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Kết luận.</a:t>
            </a:r>
            <a:endParaRPr sz="2800">
              <a:solidFill>
                <a:schemeClr val="accen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40d0db00ce_0_4"/>
          <p:cNvSpPr txBox="1"/>
          <p:nvPr>
            <p:ph type="title"/>
          </p:nvPr>
        </p:nvSpPr>
        <p:spPr>
          <a:xfrm>
            <a:off x="258375" y="307625"/>
            <a:ext cx="6660600" cy="638700"/>
          </a:xfrm>
          <a:prstGeom prst="rect">
            <a:avLst/>
          </a:prstGeom>
          <a:noFill/>
          <a:ln>
            <a:noFill/>
          </a:ln>
        </p:spPr>
        <p:txBody>
          <a:bodyPr anchorCtr="0" anchor="b" bIns="34275" lIns="68575" spcFirstLastPara="1" rIns="68575" wrap="square" tIns="34275">
            <a:normAutofit/>
          </a:bodyPr>
          <a:lstStyle/>
          <a:p>
            <a:pPr indent="-406400" lvl="0" marL="457200" rtl="0" algn="l">
              <a:lnSpc>
                <a:spcPct val="100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Tổng quan về đề tài</a:t>
            </a:r>
            <a:endParaRPr>
              <a:latin typeface="Times New Roman"/>
              <a:ea typeface="Times New Roman"/>
              <a:cs typeface="Times New Roman"/>
              <a:sym typeface="Times New Roman"/>
            </a:endParaRPr>
          </a:p>
        </p:txBody>
      </p:sp>
      <p:sp>
        <p:nvSpPr>
          <p:cNvPr id="71" name="Google Shape;71;g340d0db00ce_0_4"/>
          <p:cNvSpPr txBox="1"/>
          <p:nvPr/>
        </p:nvSpPr>
        <p:spPr>
          <a:xfrm>
            <a:off x="258375" y="946325"/>
            <a:ext cx="48573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100">
                <a:solidFill>
                  <a:srgbClr val="FF0000"/>
                </a:solidFill>
                <a:latin typeface="Times New Roman"/>
                <a:ea typeface="Times New Roman"/>
                <a:cs typeface="Times New Roman"/>
                <a:sym typeface="Times New Roman"/>
              </a:rPr>
              <a:t>1.	Đặt vấn đề</a:t>
            </a:r>
            <a:r>
              <a:rPr i="0" lang="en-US" sz="2100" u="none" cap="none" strike="noStrike">
                <a:solidFill>
                  <a:srgbClr val="FF0000"/>
                </a:solidFill>
                <a:latin typeface="Times New Roman"/>
                <a:ea typeface="Times New Roman"/>
                <a:cs typeface="Times New Roman"/>
                <a:sym typeface="Times New Roman"/>
              </a:rPr>
              <a:t> </a:t>
            </a:r>
            <a:endParaRPr i="0" sz="2100" u="none" cap="none" strike="noStrike">
              <a:solidFill>
                <a:srgbClr val="FF0000"/>
              </a:solidFill>
              <a:latin typeface="Times New Roman"/>
              <a:ea typeface="Times New Roman"/>
              <a:cs typeface="Times New Roman"/>
              <a:sym typeface="Times New Roman"/>
            </a:endParaRPr>
          </a:p>
        </p:txBody>
      </p:sp>
      <p:sp>
        <p:nvSpPr>
          <p:cNvPr id="72" name="Google Shape;72;g340d0db00ce_0_4"/>
          <p:cNvSpPr txBox="1"/>
          <p:nvPr/>
        </p:nvSpPr>
        <p:spPr>
          <a:xfrm>
            <a:off x="258375" y="1351025"/>
            <a:ext cx="4531800" cy="3250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T</a:t>
            </a:r>
            <a:r>
              <a:rPr lang="en-US" sz="1300">
                <a:solidFill>
                  <a:schemeClr val="dk1"/>
                </a:solidFill>
                <a:latin typeface="Times New Roman"/>
                <a:ea typeface="Times New Roman"/>
                <a:cs typeface="Times New Roman"/>
                <a:sym typeface="Times New Roman"/>
              </a:rPr>
              <a:t>rong bối cảnh công nghệ xe hơi ngày càng phát triển theo hướng thông minh hóa, nhu cầu về một hệ thống giao diện người-máy (HMI) hiện đại và linh hoạt là vô cùng cấp thiết. </a:t>
            </a:r>
            <a:endParaRPr sz="1300">
              <a:solidFill>
                <a:schemeClr val="dk1"/>
              </a:solidFill>
              <a:latin typeface="Times New Roman"/>
              <a:ea typeface="Times New Roman"/>
              <a:cs typeface="Times New Roman"/>
              <a:sym typeface="Times New Roman"/>
            </a:endParaRPr>
          </a:p>
          <a:p>
            <a:pPr indent="-311150" lvl="0" marL="457200" rtl="0" algn="just">
              <a:lnSpc>
                <a:spcPct val="150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Các bảng điều khiển truyền thống chỉ hiển thị thông tin tĩnh, không đủ khả năng tích hợp dữ liệu thời gian thực từ các hệ thống hỗ trợ người lái (ADAS).</a:t>
            </a:r>
            <a:endParaRPr sz="1300">
              <a:solidFill>
                <a:schemeClr val="dk1"/>
              </a:solidFill>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Điều này đặt ra yêu cầu phải phát triển một giải pháp bảng điều khiển kỹ thuật số có khả năng tổng hợp và trình bày thông tin một cách trực quan, giúp tài xế đưa ra quyết định nhanh chóng và chính xác.</a:t>
            </a:r>
            <a:endParaRPr b="0" i="0" sz="1500" u="none" cap="none" strike="noStrike">
              <a:solidFill>
                <a:schemeClr val="dk1"/>
              </a:solidFill>
              <a:latin typeface="Calibri"/>
              <a:ea typeface="Calibri"/>
              <a:cs typeface="Calibri"/>
              <a:sym typeface="Calibri"/>
            </a:endParaRPr>
          </a:p>
        </p:txBody>
      </p:sp>
      <p:pic>
        <p:nvPicPr>
          <p:cNvPr id="73" name="Google Shape;73;g340d0db00ce_0_4"/>
          <p:cNvPicPr preferRelativeResize="0"/>
          <p:nvPr/>
        </p:nvPicPr>
        <p:blipFill>
          <a:blip r:embed="rId3">
            <a:alphaModFix/>
          </a:blip>
          <a:stretch>
            <a:fillRect/>
          </a:stretch>
        </p:blipFill>
        <p:spPr>
          <a:xfrm>
            <a:off x="4869550" y="1457875"/>
            <a:ext cx="4122050" cy="2571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73031208b6_0_3"/>
          <p:cNvSpPr txBox="1"/>
          <p:nvPr>
            <p:ph type="title"/>
          </p:nvPr>
        </p:nvSpPr>
        <p:spPr>
          <a:xfrm>
            <a:off x="258375" y="307625"/>
            <a:ext cx="6660600" cy="638700"/>
          </a:xfrm>
          <a:prstGeom prst="rect">
            <a:avLst/>
          </a:prstGeom>
          <a:noFill/>
          <a:ln>
            <a:noFill/>
          </a:ln>
        </p:spPr>
        <p:txBody>
          <a:bodyPr anchorCtr="0" anchor="b" bIns="34275" lIns="68575" spcFirstLastPara="1" rIns="68575" wrap="square" tIns="34275">
            <a:normAutofit/>
          </a:bodyPr>
          <a:lstStyle/>
          <a:p>
            <a:pPr indent="-406400" lvl="0" marL="457200" rtl="0" algn="l">
              <a:lnSpc>
                <a:spcPct val="100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Tổng quan về đề tài</a:t>
            </a:r>
            <a:endParaRPr>
              <a:latin typeface="Times New Roman"/>
              <a:ea typeface="Times New Roman"/>
              <a:cs typeface="Times New Roman"/>
              <a:sym typeface="Times New Roman"/>
            </a:endParaRPr>
          </a:p>
        </p:txBody>
      </p:sp>
      <p:sp>
        <p:nvSpPr>
          <p:cNvPr id="79" name="Google Shape;79;g373031208b6_0_3"/>
          <p:cNvSpPr txBox="1"/>
          <p:nvPr/>
        </p:nvSpPr>
        <p:spPr>
          <a:xfrm>
            <a:off x="258375" y="946325"/>
            <a:ext cx="48573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100">
                <a:solidFill>
                  <a:srgbClr val="FF0000"/>
                </a:solidFill>
                <a:latin typeface="Times New Roman"/>
                <a:ea typeface="Times New Roman"/>
                <a:cs typeface="Times New Roman"/>
                <a:sym typeface="Times New Roman"/>
              </a:rPr>
              <a:t>2.	</a:t>
            </a:r>
            <a:r>
              <a:rPr lang="en-US" sz="2100">
                <a:solidFill>
                  <a:srgbClr val="FF0000"/>
                </a:solidFill>
                <a:latin typeface="Times New Roman"/>
                <a:ea typeface="Times New Roman"/>
                <a:cs typeface="Times New Roman"/>
                <a:sym typeface="Times New Roman"/>
              </a:rPr>
              <a:t>Mục tiêu dự án</a:t>
            </a:r>
            <a:r>
              <a:rPr i="0" lang="en-US" sz="2100" u="none" cap="none" strike="noStrike">
                <a:solidFill>
                  <a:srgbClr val="FF0000"/>
                </a:solidFill>
                <a:latin typeface="Times New Roman"/>
                <a:ea typeface="Times New Roman"/>
                <a:cs typeface="Times New Roman"/>
                <a:sym typeface="Times New Roman"/>
              </a:rPr>
              <a:t> </a:t>
            </a:r>
            <a:endParaRPr i="0" sz="2100" u="none" cap="none" strike="noStrike">
              <a:solidFill>
                <a:srgbClr val="FF0000"/>
              </a:solidFill>
              <a:latin typeface="Times New Roman"/>
              <a:ea typeface="Times New Roman"/>
              <a:cs typeface="Times New Roman"/>
              <a:sym typeface="Times New Roman"/>
            </a:endParaRPr>
          </a:p>
        </p:txBody>
      </p:sp>
      <p:sp>
        <p:nvSpPr>
          <p:cNvPr id="80" name="Google Shape;80;g373031208b6_0_3"/>
          <p:cNvSpPr txBox="1"/>
          <p:nvPr/>
        </p:nvSpPr>
        <p:spPr>
          <a:xfrm>
            <a:off x="258375" y="1351025"/>
            <a:ext cx="8885700" cy="3300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600"/>
              </a:spcBef>
              <a:spcAft>
                <a:spcPts val="0"/>
              </a:spcAft>
              <a:buClr>
                <a:schemeClr val="dk1"/>
              </a:buClr>
              <a:buSzPts val="1400"/>
              <a:buFont typeface="Times New Roman"/>
              <a:buAutoNum type="arabicPeriod"/>
            </a:pPr>
            <a:r>
              <a:rPr lang="en-US">
                <a:solidFill>
                  <a:schemeClr val="dk1"/>
                </a:solidFill>
                <a:latin typeface="Times New Roman"/>
                <a:ea typeface="Times New Roman"/>
                <a:cs typeface="Times New Roman"/>
                <a:sym typeface="Times New Roman"/>
              </a:rPr>
              <a:t>Thiết kế và xây dựng Instrument Cluster Kỹ thuật số thay thế cho bảng điều khiển truyền thống.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600"/>
              </a:spcBef>
              <a:spcAft>
                <a:spcPts val="0"/>
              </a:spcAft>
              <a:buClr>
                <a:schemeClr val="dk1"/>
              </a:buClr>
              <a:buSzPts val="1400"/>
              <a:buFont typeface="Times New Roman"/>
              <a:buAutoNum type="arabicPeriod"/>
            </a:pPr>
            <a:r>
              <a:rPr lang="en-US">
                <a:solidFill>
                  <a:schemeClr val="dk1"/>
                </a:solidFill>
                <a:latin typeface="Times New Roman"/>
                <a:ea typeface="Times New Roman"/>
                <a:cs typeface="Times New Roman"/>
                <a:sym typeface="Times New Roman"/>
              </a:rPr>
              <a:t>Tích hợp dữ liệu thời gian thực từ vi điều khiển (ESP32) và hệ thống xử lý thị giác trên Raspberry Pi. </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600"/>
              </a:spcBef>
              <a:spcAft>
                <a:spcPts val="0"/>
              </a:spcAft>
              <a:buClr>
                <a:schemeClr val="dk1"/>
              </a:buClr>
              <a:buSzPts val="1400"/>
              <a:buFont typeface="Times New Roman"/>
              <a:buAutoNum type="arabicPeriod"/>
            </a:pPr>
            <a:r>
              <a:rPr lang="en-US">
                <a:solidFill>
                  <a:schemeClr val="dk1"/>
                </a:solidFill>
                <a:latin typeface="Times New Roman"/>
                <a:ea typeface="Times New Roman"/>
                <a:cs typeface="Times New Roman"/>
                <a:sym typeface="Times New Roman"/>
              </a:rPr>
              <a:t>Thiết kế giao diện hiển thị người dùng trên nền tảng Qt/QML, đảm bảo tính thẩm mỹ và tối ưu hiệu suất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600"/>
              </a:spcBef>
              <a:spcAft>
                <a:spcPts val="1400"/>
              </a:spcAft>
              <a:buClr>
                <a:schemeClr val="dk1"/>
              </a:buClr>
              <a:buSzPts val="1400"/>
              <a:buFont typeface="Times New Roman"/>
              <a:buAutoNum type="arabicPeriod"/>
            </a:pPr>
            <a:r>
              <a:rPr lang="en-US">
                <a:solidFill>
                  <a:schemeClr val="dk1"/>
                </a:solidFill>
                <a:latin typeface="Times New Roman"/>
                <a:ea typeface="Times New Roman"/>
                <a:cs typeface="Times New Roman"/>
                <a:sym typeface="Times New Roman"/>
              </a:rPr>
              <a:t>Kiểm tra tính khả thi và hiệu suất hoạt động của hệ thống trước khi triển khai thực tế.</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73031208b6_0_10"/>
          <p:cNvSpPr txBox="1"/>
          <p:nvPr>
            <p:ph type="title"/>
          </p:nvPr>
        </p:nvSpPr>
        <p:spPr>
          <a:xfrm>
            <a:off x="258375" y="307625"/>
            <a:ext cx="6660600" cy="638700"/>
          </a:xfrm>
          <a:prstGeom prst="rect">
            <a:avLst/>
          </a:prstGeom>
          <a:noFill/>
          <a:ln>
            <a:noFill/>
          </a:ln>
        </p:spPr>
        <p:txBody>
          <a:bodyPr anchorCtr="0" anchor="b" bIns="34275" lIns="68575" spcFirstLastPara="1" rIns="68575" wrap="square" tIns="34275">
            <a:normAutofit/>
          </a:bodyPr>
          <a:lstStyle/>
          <a:p>
            <a:pPr indent="-406400" lvl="0" marL="457200" rtl="0" algn="l">
              <a:lnSpc>
                <a:spcPct val="100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Tổng quan về đề tài</a:t>
            </a:r>
            <a:endParaRPr>
              <a:latin typeface="Times New Roman"/>
              <a:ea typeface="Times New Roman"/>
              <a:cs typeface="Times New Roman"/>
              <a:sym typeface="Times New Roman"/>
            </a:endParaRPr>
          </a:p>
        </p:txBody>
      </p:sp>
      <p:sp>
        <p:nvSpPr>
          <p:cNvPr id="86" name="Google Shape;86;g373031208b6_0_10"/>
          <p:cNvSpPr txBox="1"/>
          <p:nvPr/>
        </p:nvSpPr>
        <p:spPr>
          <a:xfrm>
            <a:off x="258375" y="946325"/>
            <a:ext cx="48573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100">
                <a:solidFill>
                  <a:srgbClr val="FF0000"/>
                </a:solidFill>
                <a:latin typeface="Times New Roman"/>
                <a:ea typeface="Times New Roman"/>
                <a:cs typeface="Times New Roman"/>
                <a:sym typeface="Times New Roman"/>
              </a:rPr>
              <a:t>3.	Nội dung thực hiện</a:t>
            </a:r>
            <a:endParaRPr i="0" sz="2100" u="none" cap="none" strike="noStrike">
              <a:solidFill>
                <a:srgbClr val="FF0000"/>
              </a:solidFill>
              <a:latin typeface="Times New Roman"/>
              <a:ea typeface="Times New Roman"/>
              <a:cs typeface="Times New Roman"/>
              <a:sym typeface="Times New Roman"/>
            </a:endParaRPr>
          </a:p>
        </p:txBody>
      </p:sp>
      <p:sp>
        <p:nvSpPr>
          <p:cNvPr id="87" name="Google Shape;87;g373031208b6_0_10"/>
          <p:cNvSpPr txBox="1"/>
          <p:nvPr/>
        </p:nvSpPr>
        <p:spPr>
          <a:xfrm>
            <a:off x="0" y="1351025"/>
            <a:ext cx="9084600" cy="3131400"/>
          </a:xfrm>
          <a:prstGeom prst="rect">
            <a:avLst/>
          </a:prstGeom>
          <a:noFill/>
          <a:ln>
            <a:noFill/>
          </a:ln>
        </p:spPr>
        <p:txBody>
          <a:bodyPr anchorCtr="0" anchor="t" bIns="91425" lIns="91425" spcFirstLastPara="1" rIns="91425" wrap="square" tIns="91425">
            <a:noAutofit/>
          </a:bodyPr>
          <a:lstStyle/>
          <a:p>
            <a:pPr indent="0" lvl="0" marL="360045" rtl="0" algn="just">
              <a:lnSpc>
                <a:spcPct val="115000"/>
              </a:lnSpc>
              <a:spcBef>
                <a:spcPts val="600"/>
              </a:spcBef>
              <a:spcAft>
                <a:spcPts val="0"/>
              </a:spcAft>
              <a:buNone/>
            </a:pPr>
            <a:r>
              <a:rPr lang="en-US">
                <a:solidFill>
                  <a:schemeClr val="dk1"/>
                </a:solidFill>
                <a:latin typeface="Times New Roman"/>
                <a:ea typeface="Times New Roman"/>
                <a:cs typeface="Times New Roman"/>
                <a:sym typeface="Times New Roman"/>
              </a:rPr>
              <a:t>1.  </a:t>
            </a:r>
            <a:r>
              <a:rPr b="1" lang="en-US">
                <a:solidFill>
                  <a:schemeClr val="dk1"/>
                </a:solidFill>
                <a:latin typeface="Times New Roman"/>
                <a:ea typeface="Times New Roman"/>
                <a:cs typeface="Times New Roman"/>
                <a:sym typeface="Times New Roman"/>
              </a:rPr>
              <a:t>Tìm hiểu lý thuyết</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Tìm hiểu về các đặc điểm, chức năng của Qt/QML và cơ chế hoạt động của Signals and Slots</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Tìm hiểu về cách lập trình và mô phỏng INSTRUMENT CLUSTER.</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Tìm hiểu giao thức TCP/IP.</a:t>
            </a:r>
            <a:endParaRPr>
              <a:solidFill>
                <a:schemeClr val="dk1"/>
              </a:solidFill>
              <a:latin typeface="Times New Roman"/>
              <a:ea typeface="Times New Roman"/>
              <a:cs typeface="Times New Roman"/>
              <a:sym typeface="Times New Roman"/>
            </a:endParaRPr>
          </a:p>
          <a:p>
            <a:pPr indent="0" lvl="0" marL="360045" rtl="0" algn="just">
              <a:lnSpc>
                <a:spcPct val="115000"/>
              </a:lnSpc>
              <a:spcBef>
                <a:spcPts val="600"/>
              </a:spcBef>
              <a:spcAft>
                <a:spcPts val="0"/>
              </a:spcAft>
              <a:buNone/>
            </a:pPr>
            <a:r>
              <a:rPr lang="en-US">
                <a:solidFill>
                  <a:schemeClr val="dk1"/>
                </a:solidFill>
                <a:latin typeface="Times New Roman"/>
                <a:ea typeface="Times New Roman"/>
                <a:cs typeface="Times New Roman"/>
                <a:sym typeface="Times New Roman"/>
              </a:rPr>
              <a:t>2.  </a:t>
            </a:r>
            <a:r>
              <a:rPr b="1" lang="en-US">
                <a:solidFill>
                  <a:schemeClr val="dk1"/>
                </a:solidFill>
                <a:latin typeface="Times New Roman"/>
                <a:ea typeface="Times New Roman"/>
                <a:cs typeface="Times New Roman"/>
                <a:sym typeface="Times New Roman"/>
              </a:rPr>
              <a:t>Lựa chọn thiết bị và công cụ</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Chip ESP32, cảm biến nhiệt độ độ ẩm DHT11, biến trở Volume, Raspberry Pi</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Sử dụng Qt/QML để lập trình, mô phỏng </a:t>
            </a:r>
            <a:r>
              <a:rPr lang="en-US" sz="1300">
                <a:solidFill>
                  <a:schemeClr val="dk1"/>
                </a:solidFill>
                <a:latin typeface="Times New Roman"/>
                <a:ea typeface="Times New Roman"/>
                <a:cs typeface="Times New Roman"/>
                <a:sym typeface="Times New Roman"/>
              </a:rPr>
              <a:t>INSTRUMENT CLUSTER và hiển </a:t>
            </a:r>
            <a:r>
              <a:rPr lang="en-US" sz="1300">
                <a:solidFill>
                  <a:schemeClr val="dk1"/>
                </a:solidFill>
                <a:latin typeface="Times New Roman"/>
                <a:ea typeface="Times New Roman"/>
                <a:cs typeface="Times New Roman"/>
                <a:sym typeface="Times New Roman"/>
              </a:rPr>
              <a:t>thị</a:t>
            </a:r>
            <a:r>
              <a:rPr lang="en-US" sz="1300">
                <a:solidFill>
                  <a:schemeClr val="dk1"/>
                </a:solidFill>
                <a:latin typeface="Times New Roman"/>
                <a:ea typeface="Times New Roman"/>
                <a:cs typeface="Times New Roman"/>
                <a:sym typeface="Times New Roman"/>
              </a:rPr>
              <a:t> dữ liệu từ ESP32, Raspberry Pi</a:t>
            </a:r>
            <a:r>
              <a:rPr lang="en-US">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360045" rtl="0" algn="just">
              <a:lnSpc>
                <a:spcPct val="115000"/>
              </a:lnSpc>
              <a:spcBef>
                <a:spcPts val="600"/>
              </a:spcBef>
              <a:spcAft>
                <a:spcPts val="0"/>
              </a:spcAft>
              <a:buNone/>
            </a:pPr>
            <a:r>
              <a:rPr lang="en-US">
                <a:solidFill>
                  <a:schemeClr val="dk1"/>
                </a:solidFill>
                <a:latin typeface="Times New Roman"/>
                <a:ea typeface="Times New Roman"/>
                <a:cs typeface="Times New Roman"/>
                <a:sym typeface="Times New Roman"/>
              </a:rPr>
              <a:t>3.  </a:t>
            </a:r>
            <a:r>
              <a:rPr b="1" lang="en-US">
                <a:solidFill>
                  <a:schemeClr val="dk1"/>
                </a:solidFill>
                <a:latin typeface="Times New Roman"/>
                <a:ea typeface="Times New Roman"/>
                <a:cs typeface="Times New Roman"/>
                <a:sym typeface="Times New Roman"/>
              </a:rPr>
              <a:t>Thiết kế sơ đồ nguyên lý hệ thống</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Thiết kế sơ đồ mạch và k</a:t>
            </a:r>
            <a:r>
              <a:rPr lang="en-US">
                <a:solidFill>
                  <a:schemeClr val="dk1"/>
                </a:solidFill>
                <a:latin typeface="Times New Roman"/>
                <a:ea typeface="Times New Roman"/>
                <a:cs typeface="Times New Roman"/>
                <a:sym typeface="Times New Roman"/>
              </a:rPr>
              <a:t>ết nối các linh kiện để mô phỏng các thông số của xe và hệ thống xử lý.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73031208b6_0_16"/>
          <p:cNvSpPr txBox="1"/>
          <p:nvPr>
            <p:ph type="title"/>
          </p:nvPr>
        </p:nvSpPr>
        <p:spPr>
          <a:xfrm>
            <a:off x="258375" y="307625"/>
            <a:ext cx="6660600" cy="638700"/>
          </a:xfrm>
          <a:prstGeom prst="rect">
            <a:avLst/>
          </a:prstGeom>
          <a:noFill/>
          <a:ln>
            <a:noFill/>
          </a:ln>
        </p:spPr>
        <p:txBody>
          <a:bodyPr anchorCtr="0" anchor="b" bIns="34275" lIns="68575" spcFirstLastPara="1" rIns="68575" wrap="square" tIns="34275">
            <a:normAutofit/>
          </a:bodyPr>
          <a:lstStyle/>
          <a:p>
            <a:pPr indent="-406400" lvl="0" marL="457200" rtl="0" algn="l">
              <a:lnSpc>
                <a:spcPct val="100000"/>
              </a:lnSpc>
              <a:spcBef>
                <a:spcPts val="0"/>
              </a:spcBef>
              <a:spcAft>
                <a:spcPts val="0"/>
              </a:spcAft>
              <a:buClr>
                <a:schemeClr val="accent1"/>
              </a:buClr>
              <a:buSzPts val="2800"/>
              <a:buFont typeface="Times New Roman"/>
              <a:buAutoNum type="romanUcPeriod"/>
            </a:pPr>
            <a:r>
              <a:rPr lang="en-US" sz="2800">
                <a:solidFill>
                  <a:schemeClr val="accent1"/>
                </a:solidFill>
                <a:latin typeface="Times New Roman"/>
                <a:ea typeface="Times New Roman"/>
                <a:cs typeface="Times New Roman"/>
                <a:sym typeface="Times New Roman"/>
              </a:rPr>
              <a:t>Tổng quan về đề tài</a:t>
            </a:r>
            <a:endParaRPr>
              <a:latin typeface="Times New Roman"/>
              <a:ea typeface="Times New Roman"/>
              <a:cs typeface="Times New Roman"/>
              <a:sym typeface="Times New Roman"/>
            </a:endParaRPr>
          </a:p>
        </p:txBody>
      </p:sp>
      <p:sp>
        <p:nvSpPr>
          <p:cNvPr id="93" name="Google Shape;93;g373031208b6_0_16"/>
          <p:cNvSpPr txBox="1"/>
          <p:nvPr/>
        </p:nvSpPr>
        <p:spPr>
          <a:xfrm>
            <a:off x="258375" y="946325"/>
            <a:ext cx="4857300" cy="40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100">
                <a:solidFill>
                  <a:srgbClr val="FF0000"/>
                </a:solidFill>
                <a:latin typeface="Times New Roman"/>
                <a:ea typeface="Times New Roman"/>
                <a:cs typeface="Times New Roman"/>
                <a:sym typeface="Times New Roman"/>
              </a:rPr>
              <a:t>3.	</a:t>
            </a:r>
            <a:r>
              <a:rPr lang="en-US" sz="2100">
                <a:solidFill>
                  <a:srgbClr val="FF0000"/>
                </a:solidFill>
                <a:latin typeface="Times New Roman"/>
                <a:ea typeface="Times New Roman"/>
                <a:cs typeface="Times New Roman"/>
                <a:sym typeface="Times New Roman"/>
              </a:rPr>
              <a:t>Nội dung thực hiện</a:t>
            </a:r>
            <a:endParaRPr i="0" sz="2100" u="none" cap="none" strike="noStrike">
              <a:solidFill>
                <a:srgbClr val="FF0000"/>
              </a:solidFill>
              <a:latin typeface="Times New Roman"/>
              <a:ea typeface="Times New Roman"/>
              <a:cs typeface="Times New Roman"/>
              <a:sym typeface="Times New Roman"/>
            </a:endParaRPr>
          </a:p>
        </p:txBody>
      </p:sp>
      <p:sp>
        <p:nvSpPr>
          <p:cNvPr id="94" name="Google Shape;94;g373031208b6_0_16"/>
          <p:cNvSpPr txBox="1"/>
          <p:nvPr/>
        </p:nvSpPr>
        <p:spPr>
          <a:xfrm>
            <a:off x="0" y="1351025"/>
            <a:ext cx="9034500" cy="3379800"/>
          </a:xfrm>
          <a:prstGeom prst="rect">
            <a:avLst/>
          </a:prstGeom>
          <a:noFill/>
          <a:ln>
            <a:noFill/>
          </a:ln>
        </p:spPr>
        <p:txBody>
          <a:bodyPr anchorCtr="0" anchor="t" bIns="91425" lIns="91425" spcFirstLastPara="1" rIns="91425" wrap="square" tIns="91425">
            <a:noAutofit/>
          </a:bodyPr>
          <a:lstStyle/>
          <a:p>
            <a:pPr indent="0" lvl="0" marL="360045" rtl="0" algn="just">
              <a:lnSpc>
                <a:spcPct val="130000"/>
              </a:lnSpc>
              <a:spcBef>
                <a:spcPts val="600"/>
              </a:spcBef>
              <a:spcAft>
                <a:spcPts val="0"/>
              </a:spcAft>
              <a:buNone/>
            </a:pPr>
            <a:r>
              <a:rPr lang="en-US">
                <a:solidFill>
                  <a:schemeClr val="dk1"/>
                </a:solidFill>
                <a:latin typeface="Times New Roman"/>
                <a:ea typeface="Times New Roman"/>
                <a:cs typeface="Times New Roman"/>
                <a:sym typeface="Times New Roman"/>
              </a:rPr>
              <a:t>4.  </a:t>
            </a:r>
            <a:r>
              <a:rPr b="1" lang="en-US">
                <a:solidFill>
                  <a:schemeClr val="dk1"/>
                </a:solidFill>
                <a:latin typeface="Times New Roman"/>
                <a:ea typeface="Times New Roman"/>
                <a:cs typeface="Times New Roman"/>
                <a:sym typeface="Times New Roman"/>
              </a:rPr>
              <a:t>Lập trình điều khiển hệ thống</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Arial"/>
              <a:buChar char="●"/>
            </a:pPr>
            <a:r>
              <a:rPr b="1" lang="en-US">
                <a:solidFill>
                  <a:schemeClr val="dk1"/>
                </a:solidFill>
                <a:latin typeface="Times New Roman"/>
                <a:ea typeface="Times New Roman"/>
                <a:cs typeface="Times New Roman"/>
                <a:sym typeface="Times New Roman"/>
              </a:rPr>
              <a:t>ESP32</a:t>
            </a:r>
            <a:r>
              <a:rPr lang="en-US">
                <a:solidFill>
                  <a:schemeClr val="dk1"/>
                </a:solidFill>
                <a:latin typeface="Times New Roman"/>
                <a:ea typeface="Times New Roman"/>
                <a:cs typeface="Times New Roman"/>
                <a:sym typeface="Times New Roman"/>
              </a:rPr>
              <a:t>: đọc, xử lý và truyền dữ liệu mô phỏng (tốc độ, đèn báo).</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Arial"/>
              <a:buChar char="●"/>
            </a:pPr>
            <a:r>
              <a:rPr b="1" lang="en-US">
                <a:solidFill>
                  <a:schemeClr val="dk1"/>
                </a:solidFill>
                <a:latin typeface="Times New Roman"/>
                <a:ea typeface="Times New Roman"/>
                <a:cs typeface="Times New Roman"/>
                <a:sym typeface="Times New Roman"/>
              </a:rPr>
              <a:t>Raspberry Pi</a:t>
            </a:r>
            <a:r>
              <a:rPr lang="en-US">
                <a:solidFill>
                  <a:schemeClr val="dk1"/>
                </a:solidFill>
                <a:latin typeface="Times New Roman"/>
                <a:ea typeface="Times New Roman"/>
                <a:cs typeface="Times New Roman"/>
                <a:sym typeface="Times New Roman"/>
              </a:rPr>
              <a:t>: chạy thuật toán thị giác máy tính, nhận diện biển báo giao thông.</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Arial"/>
              <a:buChar char="●"/>
            </a:pPr>
            <a:r>
              <a:rPr b="1" lang="en-US">
                <a:solidFill>
                  <a:schemeClr val="dk1"/>
                </a:solidFill>
                <a:latin typeface="Times New Roman"/>
                <a:ea typeface="Times New Roman"/>
                <a:cs typeface="Times New Roman"/>
                <a:sym typeface="Times New Roman"/>
              </a:rPr>
              <a:t>Giao tiếp dữ liệu thời gian thực</a:t>
            </a:r>
            <a:r>
              <a:rPr lang="en-US">
                <a:solidFill>
                  <a:schemeClr val="dk1"/>
                </a:solidFill>
                <a:latin typeface="Times New Roman"/>
                <a:ea typeface="Times New Roman"/>
                <a:cs typeface="Times New Roman"/>
                <a:sym typeface="Times New Roman"/>
              </a:rPr>
              <a:t> giữa ESP32 – Raspberry Pi – Instrument Cluster.</a:t>
            </a:r>
            <a:endParaRPr>
              <a:solidFill>
                <a:schemeClr val="dk1"/>
              </a:solidFill>
              <a:latin typeface="Times New Roman"/>
              <a:ea typeface="Times New Roman"/>
              <a:cs typeface="Times New Roman"/>
              <a:sym typeface="Times New Roman"/>
            </a:endParaRPr>
          </a:p>
          <a:p>
            <a:pPr indent="-317500" lvl="0" marL="685800" rtl="0" algn="just">
              <a:lnSpc>
                <a:spcPct val="115000"/>
              </a:lnSpc>
              <a:spcBef>
                <a:spcPts val="600"/>
              </a:spcBef>
              <a:spcAft>
                <a:spcPts val="0"/>
              </a:spcAft>
              <a:buClr>
                <a:schemeClr val="dk1"/>
              </a:buClr>
              <a:buSzPts val="1400"/>
              <a:buFont typeface="Arial"/>
              <a:buChar char="●"/>
            </a:pPr>
            <a:r>
              <a:rPr b="1" lang="en-US">
                <a:solidFill>
                  <a:schemeClr val="dk1"/>
                </a:solidFill>
                <a:latin typeface="Times New Roman"/>
                <a:ea typeface="Times New Roman"/>
                <a:cs typeface="Times New Roman"/>
                <a:sym typeface="Times New Roman"/>
              </a:rPr>
              <a:t>Qt/QML</a:t>
            </a:r>
            <a:r>
              <a:rPr lang="en-US">
                <a:solidFill>
                  <a:schemeClr val="dk1"/>
                </a:solidFill>
                <a:latin typeface="Times New Roman"/>
                <a:ea typeface="Times New Roman"/>
                <a:cs typeface="Times New Roman"/>
                <a:sym typeface="Times New Roman"/>
              </a:rPr>
              <a:t>: hiển thị trực quan thông tin trên bảng điều khiển.</a:t>
            </a:r>
            <a:endParaRPr>
              <a:solidFill>
                <a:schemeClr val="dk1"/>
              </a:solidFill>
            </a:endParaRPr>
          </a:p>
          <a:p>
            <a:pPr indent="0" lvl="0" marL="360045" rtl="0" algn="just">
              <a:lnSpc>
                <a:spcPct val="130000"/>
              </a:lnSpc>
              <a:spcBef>
                <a:spcPts val="600"/>
              </a:spcBef>
              <a:spcAft>
                <a:spcPts val="0"/>
              </a:spcAft>
              <a:buNone/>
            </a:pPr>
            <a:r>
              <a:rPr lang="en-US">
                <a:solidFill>
                  <a:schemeClr val="dk1"/>
                </a:solidFill>
                <a:latin typeface="Times New Roman"/>
                <a:ea typeface="Times New Roman"/>
                <a:cs typeface="Times New Roman"/>
                <a:sym typeface="Times New Roman"/>
              </a:rPr>
              <a:t>5. </a:t>
            </a:r>
            <a:r>
              <a:rPr b="1" lang="en-US">
                <a:solidFill>
                  <a:schemeClr val="dk1"/>
                </a:solidFill>
                <a:latin typeface="Times New Roman"/>
                <a:ea typeface="Times New Roman"/>
                <a:cs typeface="Times New Roman"/>
                <a:sym typeface="Times New Roman"/>
              </a:rPr>
              <a:t>Tiến hành mô phỏng và kiểm tra</a:t>
            </a:r>
            <a:endParaRPr>
              <a:solidFill>
                <a:schemeClr val="dk1"/>
              </a:solidFill>
              <a:latin typeface="Times New Roman"/>
              <a:ea typeface="Times New Roman"/>
              <a:cs typeface="Times New Roman"/>
              <a:sym typeface="Times New Roman"/>
            </a:endParaRPr>
          </a:p>
          <a:p>
            <a:pPr indent="-317500" lvl="0" marL="685800" rtl="0" algn="just">
              <a:lnSpc>
                <a:spcPct val="130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Mô phỏng hoạt động của hệ thống trên phần cứng thực tế hoặc phần mềm.</a:t>
            </a:r>
            <a:endParaRPr>
              <a:solidFill>
                <a:schemeClr val="dk1"/>
              </a:solidFill>
              <a:latin typeface="Times New Roman"/>
              <a:ea typeface="Times New Roman"/>
              <a:cs typeface="Times New Roman"/>
              <a:sym typeface="Times New Roman"/>
            </a:endParaRPr>
          </a:p>
          <a:p>
            <a:pPr indent="-317500" lvl="0" marL="685800" rtl="0" algn="just">
              <a:lnSpc>
                <a:spcPct val="130000"/>
              </a:lnSpc>
              <a:spcBef>
                <a:spcPts val="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Kiểm tra các trường hợp: gửi dữ liệu tốc độ, nhận diện biển báo và gửi kết quả, Qt/QML hiển thị dữ liệu thời gian thực…</a:t>
            </a:r>
            <a:endParaRPr>
              <a:solidFill>
                <a:schemeClr val="dk1"/>
              </a:solidFill>
              <a:latin typeface="Times New Roman"/>
              <a:ea typeface="Times New Roman"/>
              <a:cs typeface="Times New Roman"/>
              <a:sym typeface="Times New Roman"/>
            </a:endParaRPr>
          </a:p>
          <a:p>
            <a:pPr indent="0" lvl="0" marL="0" rtl="0" algn="just">
              <a:lnSpc>
                <a:spcPct val="130000"/>
              </a:lnSpc>
              <a:spcBef>
                <a:spcPts val="6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3031208b6_0_35"/>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00" name="Google Shape;100;g373031208b6_0_35"/>
          <p:cNvSpPr txBox="1"/>
          <p:nvPr>
            <p:ph idx="1" type="body"/>
          </p:nvPr>
        </p:nvSpPr>
        <p:spPr>
          <a:xfrm>
            <a:off x="238550" y="1435300"/>
            <a:ext cx="4905000" cy="31905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b="1" lang="en-US" sz="5600">
                <a:latin typeface="Times New Roman"/>
                <a:ea typeface="Times New Roman"/>
                <a:cs typeface="Times New Roman"/>
                <a:sym typeface="Times New Roman"/>
              </a:rPr>
              <a:t>Qt</a:t>
            </a:r>
            <a:r>
              <a:rPr lang="en-US" sz="5600">
                <a:latin typeface="Times New Roman"/>
                <a:ea typeface="Times New Roman"/>
                <a:cs typeface="Times New Roman"/>
                <a:sym typeface="Times New Roman"/>
              </a:rPr>
              <a:t>: Framework phát triển ứng dụng đa nền tảng (Windows, Linux,   Android, iOS).</a:t>
            </a: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b="1" lang="en-US" sz="5600">
                <a:latin typeface="Times New Roman"/>
                <a:ea typeface="Times New Roman"/>
                <a:cs typeface="Times New Roman"/>
                <a:sym typeface="Times New Roman"/>
              </a:rPr>
              <a:t>QML </a:t>
            </a:r>
            <a:r>
              <a:rPr lang="en-US" sz="5600">
                <a:latin typeface="Times New Roman"/>
                <a:ea typeface="Times New Roman"/>
                <a:cs typeface="Times New Roman"/>
                <a:sym typeface="Times New Roman"/>
              </a:rPr>
              <a:t>(Qt Modeling Language): Ngôn ngữ khai báo giao diện (dạng JavaScript + JSON), dùng để xây dựng UI trực quan, linh hoạt, hỗ trợ hoạt ảnh.</a:t>
            </a:r>
            <a:br>
              <a:rPr lang="en-US" sz="5600">
                <a:latin typeface="Times New Roman"/>
                <a:ea typeface="Times New Roman"/>
                <a:cs typeface="Times New Roman"/>
                <a:sym typeface="Times New Roman"/>
              </a:rPr>
            </a:br>
            <a:r>
              <a:rPr b="1" lang="en-US" sz="5600">
                <a:latin typeface="Times New Roman"/>
                <a:ea typeface="Times New Roman"/>
                <a:cs typeface="Times New Roman"/>
                <a:sym typeface="Times New Roman"/>
              </a:rPr>
              <a:t>Ưu điểm</a:t>
            </a:r>
            <a:r>
              <a:rPr lang="en-US" sz="5600">
                <a:latin typeface="Times New Roman"/>
                <a:ea typeface="Times New Roman"/>
                <a:cs typeface="Times New Roman"/>
                <a:sym typeface="Times New Roman"/>
              </a:rPr>
              <a:t>:</a:t>
            </a:r>
            <a:endParaRPr sz="5600">
              <a:latin typeface="Times New Roman"/>
              <a:ea typeface="Times New Roman"/>
              <a:cs typeface="Times New Roman"/>
              <a:sym typeface="Times New Roman"/>
            </a:endParaRPr>
          </a:p>
          <a:p>
            <a:pPr indent="-317500" lvl="0" marL="914400" rtl="0" algn="l">
              <a:lnSpc>
                <a:spcPct val="115000"/>
              </a:lnSpc>
              <a:spcBef>
                <a:spcPts val="1200"/>
              </a:spcBef>
              <a:spcAft>
                <a:spcPts val="0"/>
              </a:spcAft>
              <a:buSzPct val="100000"/>
              <a:buChar char="●"/>
            </a:pPr>
            <a:r>
              <a:rPr lang="en-US" sz="5600">
                <a:latin typeface="Times New Roman"/>
                <a:ea typeface="Times New Roman"/>
                <a:cs typeface="Times New Roman"/>
                <a:sym typeface="Times New Roman"/>
              </a:rPr>
              <a:t>Thiết kế giao diện hiện đại, mượt mà.</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Hỗ trợ tương tác thời gian thực (real-time).</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Kết hợp tốt với C++/Python để xử lý logic phức tạp.</a:t>
            </a: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b="1" lang="en-US" sz="5600">
                <a:latin typeface="Times New Roman"/>
                <a:ea typeface="Times New Roman"/>
                <a:cs typeface="Times New Roman"/>
                <a:sym typeface="Times New Roman"/>
              </a:rPr>
              <a:t>Ứng dụng</a:t>
            </a:r>
            <a:r>
              <a:rPr lang="en-US" sz="5600">
                <a:latin typeface="Times New Roman"/>
                <a:ea typeface="Times New Roman"/>
                <a:cs typeface="Times New Roman"/>
                <a:sym typeface="Times New Roman"/>
              </a:rPr>
              <a:t>: được dùng nhiều trong ôtô (HMI, instrument cluster), IoT, thiết bị nhúng, desktop app.</a:t>
            </a: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78571"/>
              <a:buFont typeface="Arial"/>
              <a:buNone/>
            </a:pPr>
            <a:r>
              <a:t/>
            </a:r>
            <a:endParaRPr sz="1400">
              <a:latin typeface="Arial"/>
              <a:ea typeface="Arial"/>
              <a:cs typeface="Arial"/>
              <a:sym typeface="Arial"/>
            </a:endParaRPr>
          </a:p>
          <a:p>
            <a:pPr indent="0" lvl="0" marL="0" rtl="0" algn="l">
              <a:spcBef>
                <a:spcPts val="1200"/>
              </a:spcBef>
              <a:spcAft>
                <a:spcPts val="0"/>
              </a:spcAft>
              <a:buNone/>
            </a:pPr>
            <a:r>
              <a:t/>
            </a:r>
            <a:endParaRPr/>
          </a:p>
        </p:txBody>
      </p:sp>
      <p:sp>
        <p:nvSpPr>
          <p:cNvPr id="101" name="Google Shape;101;g373031208b6_0_35"/>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1.	Qt/QML</a:t>
            </a:r>
            <a:endParaRPr sz="2100">
              <a:solidFill>
                <a:srgbClr val="FF0000"/>
              </a:solidFill>
              <a:latin typeface="Times New Roman"/>
              <a:ea typeface="Times New Roman"/>
              <a:cs typeface="Times New Roman"/>
              <a:sym typeface="Times New Roman"/>
            </a:endParaRPr>
          </a:p>
        </p:txBody>
      </p:sp>
      <p:pic>
        <p:nvPicPr>
          <p:cNvPr id="102" name="Google Shape;102;g373031208b6_0_35"/>
          <p:cNvPicPr preferRelativeResize="0"/>
          <p:nvPr/>
        </p:nvPicPr>
        <p:blipFill>
          <a:blip r:embed="rId3">
            <a:alphaModFix/>
          </a:blip>
          <a:stretch>
            <a:fillRect/>
          </a:stretch>
        </p:blipFill>
        <p:spPr>
          <a:xfrm>
            <a:off x="5476550" y="1719638"/>
            <a:ext cx="1641500" cy="1704225"/>
          </a:xfrm>
          <a:prstGeom prst="rect">
            <a:avLst/>
          </a:prstGeom>
          <a:noFill/>
          <a:ln>
            <a:noFill/>
          </a:ln>
        </p:spPr>
      </p:pic>
      <p:pic>
        <p:nvPicPr>
          <p:cNvPr id="103" name="Google Shape;103;g373031208b6_0_35"/>
          <p:cNvPicPr preferRelativeResize="0"/>
          <p:nvPr/>
        </p:nvPicPr>
        <p:blipFill>
          <a:blip r:embed="rId4">
            <a:alphaModFix/>
          </a:blip>
          <a:stretch>
            <a:fillRect/>
          </a:stretch>
        </p:blipFill>
        <p:spPr>
          <a:xfrm>
            <a:off x="7118050" y="2034476"/>
            <a:ext cx="1905925" cy="1074550"/>
          </a:xfrm>
          <a:prstGeom prst="rect">
            <a:avLst/>
          </a:prstGeom>
          <a:noFill/>
          <a:ln>
            <a:noFill/>
          </a:ln>
        </p:spPr>
      </p:pic>
      <p:sp>
        <p:nvSpPr>
          <p:cNvPr id="104" name="Google Shape;104;g373031208b6_0_35"/>
          <p:cNvSpPr txBox="1"/>
          <p:nvPr/>
        </p:nvSpPr>
        <p:spPr>
          <a:xfrm>
            <a:off x="6229950" y="3423875"/>
            <a:ext cx="2013300" cy="3693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Logo Qt/QML</a:t>
            </a:r>
            <a:endParaRPr i="1" sz="12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79a455b801_2_17"/>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10" name="Google Shape;110;g379a455b801_2_17"/>
          <p:cNvSpPr txBox="1"/>
          <p:nvPr>
            <p:ph idx="1" type="body"/>
          </p:nvPr>
        </p:nvSpPr>
        <p:spPr>
          <a:xfrm>
            <a:off x="238550" y="1435300"/>
            <a:ext cx="5694900" cy="31905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200"/>
              </a:spcBef>
              <a:spcAft>
                <a:spcPts val="0"/>
              </a:spcAft>
              <a:buNone/>
            </a:pPr>
            <a:r>
              <a:rPr b="1" lang="en-US" sz="5600">
                <a:latin typeface="Times New Roman"/>
                <a:ea typeface="Times New Roman"/>
                <a:cs typeface="Times New Roman"/>
                <a:sym typeface="Times New Roman"/>
              </a:rPr>
              <a:t>Giao thức serial</a:t>
            </a:r>
            <a:r>
              <a:rPr lang="en-US" sz="5600">
                <a:latin typeface="Times New Roman"/>
                <a:ea typeface="Times New Roman"/>
                <a:cs typeface="Times New Roman"/>
                <a:sym typeface="Times New Roman"/>
              </a:rPr>
              <a:t> (serial protocol) là phương thức truyền dữ liệu nối tiếp, trong đó dữ liệu được gửi đi từng bit một theo một đường truyền duy nhất, thay vì gửi song song nhiều bit cùng lúc.</a:t>
            </a:r>
            <a:endParaRPr sz="56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ct val="100000"/>
              <a:buFont typeface="Times New Roman"/>
              <a:buChar char="-"/>
            </a:pPr>
            <a:r>
              <a:rPr b="1" lang="en-US" sz="5600">
                <a:latin typeface="Times New Roman"/>
                <a:ea typeface="Times New Roman"/>
                <a:cs typeface="Times New Roman"/>
                <a:sym typeface="Times New Roman"/>
              </a:rPr>
              <a:t>Nguyên lý hoạt động:</a:t>
            </a:r>
            <a:r>
              <a:rPr lang="en-US" sz="5600">
                <a:latin typeface="Times New Roman"/>
                <a:ea typeface="Times New Roman"/>
                <a:cs typeface="Times New Roman"/>
                <a:sym typeface="Times New Roman"/>
              </a:rPr>
              <a:t> Serial truyền dữ liệu bằng cách biến byte thành chuỗi bit, gửi tuần tự qua dây, bên nhận đồng bộ lại và tái tạo dữ liệu.</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5600">
                <a:latin typeface="Times New Roman"/>
                <a:ea typeface="Times New Roman"/>
                <a:cs typeface="Times New Roman"/>
                <a:sym typeface="Times New Roman"/>
              </a:rPr>
              <a:t>Ví dụ: Phát dữ liệu → Đóng gói frame (Start, Data, Parity, Stop) → Truyền nối tiếp → Nhận frame → Giải mã thành dữ liệu ban đầu.</a:t>
            </a:r>
            <a:endParaRPr sz="5600">
              <a:latin typeface="Times New Roman"/>
              <a:ea typeface="Times New Roman"/>
              <a:cs typeface="Times New Roman"/>
              <a:sym typeface="Times New Roman"/>
            </a:endParaRPr>
          </a:p>
          <a:p>
            <a:pPr indent="457200" lvl="0" marL="0" rtl="0" algn="l">
              <a:lnSpc>
                <a:spcPct val="115000"/>
              </a:lnSpc>
              <a:spcBef>
                <a:spcPts val="1200"/>
              </a:spcBef>
              <a:spcAft>
                <a:spcPts val="0"/>
              </a:spcAft>
              <a:buClr>
                <a:schemeClr val="dk1"/>
              </a:buClr>
              <a:buSzPts val="275"/>
              <a:buFont typeface="Arial"/>
              <a:buNone/>
            </a:pPr>
            <a:r>
              <a:rPr b="1" lang="en-US" sz="5600">
                <a:latin typeface="Times New Roman"/>
                <a:ea typeface="Times New Roman"/>
                <a:cs typeface="Times New Roman"/>
                <a:sym typeface="Times New Roman"/>
              </a:rPr>
              <a:t>Khung truyền (frame)</a:t>
            </a:r>
            <a:r>
              <a:rPr lang="en-US" sz="5600">
                <a:latin typeface="Times New Roman"/>
                <a:ea typeface="Times New Roman"/>
                <a:cs typeface="Times New Roman"/>
                <a:sym typeface="Times New Roman"/>
              </a:rPr>
              <a:t>:</a:t>
            </a:r>
            <a:endParaRPr sz="5600">
              <a:latin typeface="Times New Roman"/>
              <a:ea typeface="Times New Roman"/>
              <a:cs typeface="Times New Roman"/>
              <a:sym typeface="Times New Roman"/>
            </a:endParaRPr>
          </a:p>
          <a:p>
            <a:pPr indent="-317500" lvl="0" marL="914400" rtl="0" algn="l">
              <a:lnSpc>
                <a:spcPct val="115000"/>
              </a:lnSpc>
              <a:spcBef>
                <a:spcPts val="1200"/>
              </a:spcBef>
              <a:spcAft>
                <a:spcPts val="0"/>
              </a:spcAft>
              <a:buSzPct val="100000"/>
              <a:buChar char="●"/>
            </a:pPr>
            <a:r>
              <a:rPr b="1" lang="en-US" sz="5600">
                <a:latin typeface="Times New Roman"/>
                <a:ea typeface="Times New Roman"/>
                <a:cs typeface="Times New Roman"/>
                <a:sym typeface="Times New Roman"/>
              </a:rPr>
              <a:t>Start bit</a:t>
            </a:r>
            <a:r>
              <a:rPr lang="en-US" sz="5600">
                <a:latin typeface="Times New Roman"/>
                <a:ea typeface="Times New Roman"/>
                <a:cs typeface="Times New Roman"/>
                <a:sym typeface="Times New Roman"/>
              </a:rPr>
              <a:t>: báo hiệu bắt đầu.</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b="1" lang="en-US" sz="5600">
                <a:latin typeface="Times New Roman"/>
                <a:ea typeface="Times New Roman"/>
                <a:cs typeface="Times New Roman"/>
                <a:sym typeface="Times New Roman"/>
              </a:rPr>
              <a:t>Data bits</a:t>
            </a:r>
            <a:r>
              <a:rPr lang="en-US" sz="5600">
                <a:latin typeface="Times New Roman"/>
                <a:ea typeface="Times New Roman"/>
                <a:cs typeface="Times New Roman"/>
                <a:sym typeface="Times New Roman"/>
              </a:rPr>
              <a:t>: dữ liệu chính (7–8 bit).</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b="1" lang="en-US" sz="5600">
                <a:latin typeface="Times New Roman"/>
                <a:ea typeface="Times New Roman"/>
                <a:cs typeface="Times New Roman"/>
                <a:sym typeface="Times New Roman"/>
              </a:rPr>
              <a:t>Parity bit</a:t>
            </a:r>
            <a:r>
              <a:rPr lang="en-US" sz="5600">
                <a:latin typeface="Times New Roman"/>
                <a:ea typeface="Times New Roman"/>
                <a:cs typeface="Times New Roman"/>
                <a:sym typeface="Times New Roman"/>
              </a:rPr>
              <a:t>: kiểm tra lỗi.</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b="1" lang="en-US" sz="5600">
                <a:latin typeface="Times New Roman"/>
                <a:ea typeface="Times New Roman"/>
                <a:cs typeface="Times New Roman"/>
                <a:sym typeface="Times New Roman"/>
              </a:rPr>
              <a:t>Stop bit</a:t>
            </a:r>
            <a:r>
              <a:rPr lang="en-US" sz="5600">
                <a:latin typeface="Times New Roman"/>
                <a:ea typeface="Times New Roman"/>
                <a:cs typeface="Times New Roman"/>
                <a:sym typeface="Times New Roman"/>
              </a:rPr>
              <a:t>: báo hiệu kết thúc</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2573">
                <a:latin typeface="Times New Roman"/>
                <a:ea typeface="Times New Roman"/>
                <a:cs typeface="Times New Roman"/>
                <a:sym typeface="Times New Roman"/>
              </a:rPr>
            </a:b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latin typeface="Times New Roman"/>
              <a:ea typeface="Times New Roman"/>
              <a:cs typeface="Times New Roman"/>
              <a:sym typeface="Times New Roman"/>
            </a:endParaRPr>
          </a:p>
        </p:txBody>
      </p:sp>
      <p:sp>
        <p:nvSpPr>
          <p:cNvPr id="111" name="Google Shape;111;g379a455b801_2_17"/>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	Giao thức Serial</a:t>
            </a:r>
            <a:endParaRPr sz="2100">
              <a:solidFill>
                <a:srgbClr val="FF0000"/>
              </a:solidFill>
              <a:latin typeface="Times New Roman"/>
              <a:ea typeface="Times New Roman"/>
              <a:cs typeface="Times New Roman"/>
              <a:sym typeface="Times New Roman"/>
            </a:endParaRPr>
          </a:p>
        </p:txBody>
      </p:sp>
      <p:sp>
        <p:nvSpPr>
          <p:cNvPr id="112" name="Google Shape;112;g379a455b801_2_17"/>
          <p:cNvSpPr txBox="1"/>
          <p:nvPr/>
        </p:nvSpPr>
        <p:spPr>
          <a:xfrm>
            <a:off x="5930450" y="3427425"/>
            <a:ext cx="3151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     Nguyên lý hoạt động của giao thức Serial</a:t>
            </a:r>
            <a:endParaRPr i="1" sz="1200">
              <a:solidFill>
                <a:schemeClr val="dk1"/>
              </a:solidFill>
              <a:latin typeface="Times New Roman"/>
              <a:ea typeface="Times New Roman"/>
              <a:cs typeface="Times New Roman"/>
              <a:sym typeface="Times New Roman"/>
            </a:endParaRPr>
          </a:p>
        </p:txBody>
      </p:sp>
      <p:pic>
        <p:nvPicPr>
          <p:cNvPr id="113" name="Google Shape;113;g379a455b801_2_17"/>
          <p:cNvPicPr preferRelativeResize="0"/>
          <p:nvPr/>
        </p:nvPicPr>
        <p:blipFill>
          <a:blip r:embed="rId3">
            <a:alphaModFix/>
          </a:blip>
          <a:stretch>
            <a:fillRect/>
          </a:stretch>
        </p:blipFill>
        <p:spPr>
          <a:xfrm>
            <a:off x="6053475" y="1370900"/>
            <a:ext cx="2905750" cy="20039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79a455b801_2_32"/>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19" name="Google Shape;119;g379a455b801_2_32"/>
          <p:cNvSpPr txBox="1"/>
          <p:nvPr>
            <p:ph idx="1" type="body"/>
          </p:nvPr>
        </p:nvSpPr>
        <p:spPr>
          <a:xfrm>
            <a:off x="238550" y="1435300"/>
            <a:ext cx="8131800" cy="3190500"/>
          </a:xfrm>
          <a:prstGeom prst="rect">
            <a:avLst/>
          </a:prstGeom>
        </p:spPr>
        <p:txBody>
          <a:bodyPr anchorCtr="0" anchor="t" bIns="34275" lIns="68575" spcFirstLastPara="1" rIns="68575" wrap="square" tIns="34275">
            <a:normAutofit fontScale="25000" lnSpcReduction="20000"/>
          </a:bodyPr>
          <a:lstStyle/>
          <a:p>
            <a:pPr indent="-317500" lvl="0" marL="457200" rtl="0" algn="l">
              <a:lnSpc>
                <a:spcPct val="115000"/>
              </a:lnSpc>
              <a:spcBef>
                <a:spcPts val="1200"/>
              </a:spcBef>
              <a:spcAft>
                <a:spcPts val="0"/>
              </a:spcAft>
              <a:buSzPct val="100000"/>
              <a:buFont typeface="Times New Roman"/>
              <a:buChar char="-"/>
            </a:pPr>
            <a:r>
              <a:rPr b="1" lang="en-US" sz="5600">
                <a:latin typeface="Times New Roman"/>
                <a:ea typeface="Times New Roman"/>
                <a:cs typeface="Times New Roman"/>
                <a:sym typeface="Times New Roman"/>
              </a:rPr>
              <a:t>Đặc điểm</a:t>
            </a:r>
            <a:r>
              <a:rPr b="1" lang="en-US" sz="5600">
                <a:latin typeface="Times New Roman"/>
                <a:ea typeface="Times New Roman"/>
                <a:cs typeface="Times New Roman"/>
                <a:sym typeface="Times New Roman"/>
              </a:rPr>
              <a:t>:</a:t>
            </a:r>
            <a:r>
              <a:rPr lang="en-US" sz="5600">
                <a:latin typeface="Times New Roman"/>
                <a:ea typeface="Times New Roman"/>
                <a:cs typeface="Times New Roman"/>
                <a:sym typeface="Times New Roman"/>
              </a:rPr>
              <a:t> </a:t>
            </a:r>
            <a:r>
              <a:rPr lang="en-US" sz="5600">
                <a:latin typeface="Times New Roman"/>
                <a:ea typeface="Times New Roman"/>
                <a:cs typeface="Times New Roman"/>
                <a:sym typeface="Times New Roman"/>
              </a:rPr>
              <a:t>Serial có đặc điểm truyền nối tiếp từng bit, ít dây, truyền xa, chống nhiễu tốt, tốc độ linh hoạt, dễ kết nối và phổ biến trong hệ thống nhúng.</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Truyền dữ liệu theo từng bit một thay vì nhiều bit cùng lúc như giao thức song song</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Độ ổn định cao vì có tính chất xác định, giúp tránh xung đột dữ liệu.</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Cho phép khả năng truyền tải dữ liệu ở khoảng cách xa.</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Tương thích với nhiều giao thức khác như: RS-232, RS-485, CAN.</a:t>
            </a: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Font typeface="Times New Roman"/>
              <a:buChar char="-"/>
            </a:pPr>
            <a:r>
              <a:rPr b="1" lang="en-US" sz="5600">
                <a:latin typeface="Times New Roman"/>
                <a:ea typeface="Times New Roman"/>
                <a:cs typeface="Times New Roman"/>
                <a:sym typeface="Times New Roman"/>
              </a:rPr>
              <a:t>Ứng dụng: </a:t>
            </a:r>
            <a:r>
              <a:rPr lang="en-US" sz="5600">
                <a:latin typeface="Times New Roman"/>
                <a:ea typeface="Times New Roman"/>
                <a:cs typeface="Times New Roman"/>
                <a:sym typeface="Times New Roman"/>
              </a:rPr>
              <a:t>Serial được ứng dụng rộng rãi trong giao tiếp giữa vi điều khiển, cảm biến, máy tính, thiết bị ngoại vi, hệ thống công nghiệp và ô tô.</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2573">
                <a:latin typeface="Times New Roman"/>
                <a:ea typeface="Times New Roman"/>
                <a:cs typeface="Times New Roman"/>
                <a:sym typeface="Times New Roman"/>
              </a:rPr>
            </a:b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latin typeface="Times New Roman"/>
              <a:ea typeface="Times New Roman"/>
              <a:cs typeface="Times New Roman"/>
              <a:sym typeface="Times New Roman"/>
            </a:endParaRPr>
          </a:p>
        </p:txBody>
      </p:sp>
      <p:sp>
        <p:nvSpPr>
          <p:cNvPr id="120" name="Google Shape;120;g379a455b801_2_32"/>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	Giao thức Serial</a:t>
            </a:r>
            <a:endParaRPr sz="2100">
              <a:solidFill>
                <a:srgbClr val="FF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79a455b801_2_44"/>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26" name="Google Shape;126;g379a455b801_2_44"/>
          <p:cNvSpPr txBox="1"/>
          <p:nvPr>
            <p:ph idx="1" type="body"/>
          </p:nvPr>
        </p:nvSpPr>
        <p:spPr>
          <a:xfrm>
            <a:off x="238550" y="1435300"/>
            <a:ext cx="8905500" cy="32931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200"/>
              </a:spcBef>
              <a:spcAft>
                <a:spcPts val="0"/>
              </a:spcAft>
              <a:buNone/>
            </a:pPr>
            <a:r>
              <a:rPr b="1" lang="en-US" sz="5600">
                <a:latin typeface="Times New Roman"/>
                <a:ea typeface="Times New Roman"/>
                <a:cs typeface="Times New Roman"/>
                <a:sym typeface="Times New Roman"/>
              </a:rPr>
              <a:t>TCP/IP </a:t>
            </a:r>
            <a:r>
              <a:rPr lang="en-US" sz="5600">
                <a:latin typeface="Times New Roman"/>
                <a:ea typeface="Times New Roman"/>
                <a:cs typeface="Times New Roman"/>
                <a:sym typeface="Times New Roman"/>
              </a:rPr>
              <a:t>(Transmission Control Protocol/Internet Protocol) là bộ giao thức truyền thông dùng để kết nối và trao đổi dữ liệu giữa các máy tính trong mạng, đặc biệt là Internet.</a:t>
            </a:r>
            <a:endParaRPr sz="5600">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b="1" lang="en-US" sz="5600">
                <a:latin typeface="Times New Roman"/>
                <a:ea typeface="Times New Roman"/>
                <a:cs typeface="Times New Roman"/>
                <a:sym typeface="Times New Roman"/>
              </a:rPr>
              <a:t>TCP/IP gồm hai giao thức chính:</a:t>
            </a:r>
            <a:endParaRPr b="1" sz="5600">
              <a:highlight>
                <a:srgbClr val="FFFFFF"/>
              </a:highlight>
              <a:latin typeface="Times New Roman"/>
              <a:ea typeface="Times New Roman"/>
              <a:cs typeface="Times New Roman"/>
              <a:sym typeface="Times New Roman"/>
            </a:endParaRPr>
          </a:p>
          <a:p>
            <a:pPr indent="457200" lvl="0" marL="0" rtl="0" algn="l">
              <a:lnSpc>
                <a:spcPct val="115000"/>
              </a:lnSpc>
              <a:spcBef>
                <a:spcPts val="1400"/>
              </a:spcBef>
              <a:spcAft>
                <a:spcPts val="0"/>
              </a:spcAft>
              <a:buNone/>
            </a:pPr>
            <a:r>
              <a:rPr b="1" lang="en-US" sz="5600">
                <a:latin typeface="Times New Roman"/>
                <a:ea typeface="Times New Roman"/>
                <a:cs typeface="Times New Roman"/>
                <a:sym typeface="Times New Roman"/>
              </a:rPr>
              <a:t>1. </a:t>
            </a:r>
            <a:r>
              <a:rPr b="1" lang="en-US" sz="5600">
                <a:latin typeface="Times New Roman"/>
                <a:ea typeface="Times New Roman"/>
                <a:cs typeface="Times New Roman"/>
                <a:sym typeface="Times New Roman"/>
              </a:rPr>
              <a:t>TCP (Transmission Control Protocol)</a:t>
            </a:r>
            <a:endParaRPr b="1" sz="5600">
              <a:latin typeface="Times New Roman"/>
              <a:ea typeface="Times New Roman"/>
              <a:cs typeface="Times New Roman"/>
              <a:sym typeface="Times New Roman"/>
            </a:endParaRPr>
          </a:p>
          <a:p>
            <a:pPr indent="-317500" lvl="0" marL="914400" rtl="0" algn="l">
              <a:lnSpc>
                <a:spcPct val="115000"/>
              </a:lnSpc>
              <a:spcBef>
                <a:spcPts val="1200"/>
              </a:spcBef>
              <a:spcAft>
                <a:spcPts val="0"/>
              </a:spcAft>
              <a:buSzPct val="100000"/>
              <a:buChar char="●"/>
            </a:pPr>
            <a:r>
              <a:rPr lang="en-US" sz="5600">
                <a:latin typeface="Times New Roman"/>
                <a:ea typeface="Times New Roman"/>
                <a:cs typeface="Times New Roman"/>
                <a:sym typeface="Times New Roman"/>
              </a:rPr>
              <a:t>Chia dữ liệu từ ứng dụng thành các đoạn nhỏ (segments).</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Đánh số thứ tự để khi đến đích có thể lắp ghép lại đúng thứ tự.</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Kiểm tra lỗi, yêu cầu gửi lại nếu gói tin bị mất.</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Xác định đúng ứng dụng hoặc tiến trình ở máy đích (thông qua số cổng – port).</a:t>
            </a:r>
            <a:endParaRPr sz="5600">
              <a:latin typeface="Times New Roman"/>
              <a:ea typeface="Times New Roman"/>
              <a:cs typeface="Times New Roman"/>
              <a:sym typeface="Times New Roman"/>
            </a:endParaRPr>
          </a:p>
          <a:p>
            <a:pPr indent="457200" lvl="0" marL="0" rtl="0" algn="l">
              <a:lnSpc>
                <a:spcPct val="115000"/>
              </a:lnSpc>
              <a:spcBef>
                <a:spcPts val="1400"/>
              </a:spcBef>
              <a:spcAft>
                <a:spcPts val="0"/>
              </a:spcAft>
              <a:buClr>
                <a:schemeClr val="dk1"/>
              </a:buClr>
              <a:buSzPts val="275"/>
              <a:buFont typeface="Arial"/>
              <a:buNone/>
            </a:pPr>
            <a:r>
              <a:rPr b="1" lang="en-US" sz="5600">
                <a:latin typeface="Times New Roman"/>
                <a:ea typeface="Times New Roman"/>
                <a:cs typeface="Times New Roman"/>
                <a:sym typeface="Times New Roman"/>
              </a:rPr>
              <a:t>2. IP (Internet Protocol)</a:t>
            </a:r>
            <a:endParaRPr b="1" sz="5600">
              <a:latin typeface="Times New Roman"/>
              <a:ea typeface="Times New Roman"/>
              <a:cs typeface="Times New Roman"/>
              <a:sym typeface="Times New Roman"/>
            </a:endParaRPr>
          </a:p>
          <a:p>
            <a:pPr indent="-317500" lvl="0" marL="914400" rtl="0" algn="l">
              <a:lnSpc>
                <a:spcPct val="115000"/>
              </a:lnSpc>
              <a:spcBef>
                <a:spcPts val="1200"/>
              </a:spcBef>
              <a:spcAft>
                <a:spcPts val="0"/>
              </a:spcAft>
              <a:buSzPct val="100000"/>
              <a:buChar char="●"/>
            </a:pPr>
            <a:r>
              <a:rPr lang="en-US" sz="5600">
                <a:latin typeface="Times New Roman"/>
                <a:ea typeface="Times New Roman"/>
                <a:cs typeface="Times New Roman"/>
                <a:sym typeface="Times New Roman"/>
              </a:rPr>
              <a:t>Đóng gói segment thành gói tin (packet).</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Char char="●"/>
            </a:pPr>
            <a:r>
              <a:rPr lang="en-US" sz="5600">
                <a:latin typeface="Times New Roman"/>
                <a:ea typeface="Times New Roman"/>
                <a:cs typeface="Times New Roman"/>
                <a:sym typeface="Times New Roman"/>
              </a:rPr>
              <a:t>Gắn địa chỉ IP nguồn và đích.</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Định tuyến (routing) để tìm đường đi qua các mạng trung gian, đưa gói tin đến đúng máy đích.</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5600">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2573">
                <a:latin typeface="Times New Roman"/>
                <a:ea typeface="Times New Roman"/>
                <a:cs typeface="Times New Roman"/>
                <a:sym typeface="Times New Roman"/>
              </a:rPr>
            </a:b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latin typeface="Times New Roman"/>
              <a:ea typeface="Times New Roman"/>
              <a:cs typeface="Times New Roman"/>
              <a:sym typeface="Times New Roman"/>
            </a:endParaRPr>
          </a:p>
        </p:txBody>
      </p:sp>
      <p:sp>
        <p:nvSpPr>
          <p:cNvPr id="127" name="Google Shape;127;g379a455b801_2_44"/>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3.</a:t>
            </a:r>
            <a:r>
              <a:rPr lang="en-US" sz="2100">
                <a:solidFill>
                  <a:srgbClr val="FF0000"/>
                </a:solidFill>
                <a:latin typeface="Times New Roman"/>
                <a:ea typeface="Times New Roman"/>
                <a:cs typeface="Times New Roman"/>
                <a:sym typeface="Times New Roman"/>
              </a:rPr>
              <a:t>	Giao thức TCP/IP</a:t>
            </a:r>
            <a:endParaRPr sz="2100">
              <a:solidFill>
                <a:srgbClr val="FF0000"/>
              </a:solidFill>
              <a:latin typeface="Times New Roman"/>
              <a:ea typeface="Times New Roman"/>
              <a:cs typeface="Times New Roman"/>
              <a:sym typeface="Times New Roman"/>
            </a:endParaRPr>
          </a:p>
        </p:txBody>
      </p:sp>
      <p:sp>
        <p:nvSpPr>
          <p:cNvPr id="128" name="Google Shape;128;g379a455b801_2_44"/>
          <p:cNvSpPr txBox="1"/>
          <p:nvPr/>
        </p:nvSpPr>
        <p:spPr>
          <a:xfrm>
            <a:off x="5930450" y="3427425"/>
            <a:ext cx="315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79a455b801_2_70"/>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34" name="Google Shape;134;g379a455b801_2_70"/>
          <p:cNvSpPr txBox="1"/>
          <p:nvPr>
            <p:ph idx="1" type="body"/>
          </p:nvPr>
        </p:nvSpPr>
        <p:spPr>
          <a:xfrm>
            <a:off x="238550" y="1435300"/>
            <a:ext cx="8905500" cy="32931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200"/>
              </a:spcBef>
              <a:spcAft>
                <a:spcPts val="0"/>
              </a:spcAft>
              <a:buNone/>
            </a:pPr>
            <a:r>
              <a:rPr b="1" lang="en-US" sz="5600">
                <a:latin typeface="Times New Roman"/>
                <a:ea typeface="Times New Roman"/>
                <a:cs typeface="Times New Roman"/>
                <a:sym typeface="Times New Roman"/>
              </a:rPr>
              <a:t>TCP/IP</a:t>
            </a:r>
            <a:r>
              <a:rPr lang="en-US" sz="5600">
                <a:latin typeface="Times New Roman"/>
                <a:ea typeface="Times New Roman"/>
                <a:cs typeface="Times New Roman"/>
                <a:sym typeface="Times New Roman"/>
              </a:rPr>
              <a:t> hoạt động dựa trên mô hình 4 lớp có chức năng riêng và phối hợp để truyền dữ liệu hiệu quả:</a:t>
            </a:r>
            <a:endParaRPr sz="56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ct val="100000"/>
              <a:buFont typeface="Times New Roman"/>
              <a:buAutoNum type="arabicPeriod"/>
            </a:pPr>
            <a:r>
              <a:rPr b="1" lang="en-US" sz="5600">
                <a:latin typeface="Times New Roman"/>
                <a:ea typeface="Times New Roman"/>
                <a:cs typeface="Times New Roman"/>
                <a:sym typeface="Times New Roman"/>
              </a:rPr>
              <a:t>Application Layer (Lớp ứng dụng)</a:t>
            </a:r>
            <a:endParaRPr b="1"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Giao tiếp trực tiếp với người dùng.</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Cung cấp dịch vụ: Web (HTTP), Email (SMTP, IMAP),…</a:t>
            </a: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Font typeface="Times New Roman"/>
              <a:buAutoNum type="arabicPeriod"/>
            </a:pPr>
            <a:r>
              <a:rPr b="1" lang="en-US" sz="5600">
                <a:latin typeface="Times New Roman"/>
                <a:ea typeface="Times New Roman"/>
                <a:cs typeface="Times New Roman"/>
                <a:sym typeface="Times New Roman"/>
              </a:rPr>
              <a:t>Transport Layer (Lớp vận chuyển)</a:t>
            </a:r>
            <a:endParaRPr b="1"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Quản lý truyền dữ liệu từ nguồn đến đích.</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Đảm bảo tin cậy (TCP) hoặc nhanh, gọn, không cần xác nhận (UDP).</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Phân biệt ứng dụng bằng số </a:t>
            </a:r>
            <a:r>
              <a:rPr b="1" lang="en-US" sz="5600">
                <a:latin typeface="Times New Roman"/>
                <a:ea typeface="Times New Roman"/>
                <a:cs typeface="Times New Roman"/>
                <a:sym typeface="Times New Roman"/>
              </a:rPr>
              <a:t>cổng (port)</a:t>
            </a:r>
            <a:r>
              <a:rPr lang="en-US" sz="5600">
                <a:latin typeface="Times New Roman"/>
                <a:ea typeface="Times New Roman"/>
                <a:cs typeface="Times New Roman"/>
                <a:sym typeface="Times New Roman"/>
              </a:rPr>
              <a:t>.</a:t>
            </a: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Font typeface="Times New Roman"/>
              <a:buAutoNum type="arabicPeriod"/>
            </a:pPr>
            <a:r>
              <a:rPr b="1" lang="en-US" sz="5600">
                <a:latin typeface="Times New Roman"/>
                <a:ea typeface="Times New Roman"/>
                <a:cs typeface="Times New Roman"/>
                <a:sym typeface="Times New Roman"/>
              </a:rPr>
              <a:t>Internet Layer (Lớp Internet)</a:t>
            </a:r>
            <a:endParaRPr b="1"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Định tuyến gói tin qua mạng.</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Gắn địa chỉ IP nguồn – đích.</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Giao thức chính: IP (IPv4, IPv6).</a:t>
            </a: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Font typeface="Times New Roman"/>
              <a:buAutoNum type="arabicPeriod"/>
            </a:pPr>
            <a:r>
              <a:rPr b="1" lang="en-US" sz="5600">
                <a:latin typeface="Times New Roman"/>
                <a:ea typeface="Times New Roman"/>
                <a:cs typeface="Times New Roman"/>
                <a:sym typeface="Times New Roman"/>
              </a:rPr>
              <a:t>Network Access Layer (Lớp truy cập mạng)</a:t>
            </a:r>
            <a:endParaRPr b="1"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Giao tiếp với phần cứng mạng (card mạng, router).</a:t>
            </a:r>
            <a:endParaRPr sz="5600">
              <a:latin typeface="Times New Roman"/>
              <a:ea typeface="Times New Roman"/>
              <a:cs typeface="Times New Roman"/>
              <a:sym typeface="Times New Roman"/>
            </a:endParaRPr>
          </a:p>
          <a:p>
            <a:pPr indent="-31750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Truyền dữ liệu qua Ethernet, Wi-Fi, 3G/4G, v.v.</a:t>
            </a:r>
            <a:br>
              <a:rPr lang="en-US" sz="5600">
                <a:latin typeface="Times New Roman"/>
                <a:ea typeface="Times New Roman"/>
                <a:cs typeface="Times New Roman"/>
                <a:sym typeface="Times New Roman"/>
              </a:rPr>
            </a:b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5600">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2573">
                <a:latin typeface="Times New Roman"/>
                <a:ea typeface="Times New Roman"/>
                <a:cs typeface="Times New Roman"/>
                <a:sym typeface="Times New Roman"/>
              </a:rPr>
            </a:b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latin typeface="Times New Roman"/>
              <a:ea typeface="Times New Roman"/>
              <a:cs typeface="Times New Roman"/>
              <a:sym typeface="Times New Roman"/>
            </a:endParaRPr>
          </a:p>
        </p:txBody>
      </p:sp>
      <p:sp>
        <p:nvSpPr>
          <p:cNvPr id="135" name="Google Shape;135;g379a455b801_2_70"/>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3.	Giao thức TCP/IP</a:t>
            </a:r>
            <a:endParaRPr sz="2100">
              <a:solidFill>
                <a:srgbClr val="FF0000"/>
              </a:solidFill>
              <a:latin typeface="Times New Roman"/>
              <a:ea typeface="Times New Roman"/>
              <a:cs typeface="Times New Roman"/>
              <a:sym typeface="Times New Roman"/>
            </a:endParaRPr>
          </a:p>
        </p:txBody>
      </p:sp>
      <p:sp>
        <p:nvSpPr>
          <p:cNvPr id="136" name="Google Shape;136;g379a455b801_2_70"/>
          <p:cNvSpPr txBox="1"/>
          <p:nvPr/>
        </p:nvSpPr>
        <p:spPr>
          <a:xfrm>
            <a:off x="6480900" y="3722525"/>
            <a:ext cx="2663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      </a:t>
            </a:r>
            <a:r>
              <a:rPr i="1" lang="en-US" sz="1200">
                <a:solidFill>
                  <a:schemeClr val="dk1"/>
                </a:solidFill>
                <a:latin typeface="Times New Roman"/>
                <a:ea typeface="Times New Roman"/>
                <a:cs typeface="Times New Roman"/>
                <a:sym typeface="Times New Roman"/>
              </a:rPr>
              <a:t>Nguyên lý hoạt động của TCP/IP</a:t>
            </a:r>
            <a:endParaRPr i="1" sz="1200">
              <a:solidFill>
                <a:schemeClr val="dk1"/>
              </a:solidFill>
              <a:latin typeface="Times New Roman"/>
              <a:ea typeface="Times New Roman"/>
              <a:cs typeface="Times New Roman"/>
              <a:sym typeface="Times New Roman"/>
            </a:endParaRPr>
          </a:p>
        </p:txBody>
      </p:sp>
      <p:pic>
        <p:nvPicPr>
          <p:cNvPr id="137" name="Google Shape;137;g379a455b801_2_70"/>
          <p:cNvPicPr preferRelativeResize="0"/>
          <p:nvPr/>
        </p:nvPicPr>
        <p:blipFill>
          <a:blip r:embed="rId3">
            <a:alphaModFix/>
          </a:blip>
          <a:stretch>
            <a:fillRect/>
          </a:stretch>
        </p:blipFill>
        <p:spPr>
          <a:xfrm>
            <a:off x="6178700" y="1823125"/>
            <a:ext cx="2914400" cy="182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79a455b801_2_57"/>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43" name="Google Shape;143;g379a455b801_2_57"/>
          <p:cNvSpPr txBox="1"/>
          <p:nvPr>
            <p:ph idx="1" type="body"/>
          </p:nvPr>
        </p:nvSpPr>
        <p:spPr>
          <a:xfrm>
            <a:off x="238550" y="1435300"/>
            <a:ext cx="8905500" cy="32931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200"/>
              </a:spcBef>
              <a:spcAft>
                <a:spcPts val="0"/>
              </a:spcAft>
              <a:buNone/>
            </a:pPr>
            <a:r>
              <a:rPr b="1" lang="en-US" sz="5600">
                <a:latin typeface="Times New Roman"/>
                <a:ea typeface="Times New Roman"/>
                <a:cs typeface="Times New Roman"/>
                <a:sym typeface="Times New Roman"/>
              </a:rPr>
              <a:t>Qt </a:t>
            </a:r>
            <a:r>
              <a:rPr lang="en-US" sz="5600">
                <a:latin typeface="Times New Roman"/>
                <a:ea typeface="Times New Roman"/>
                <a:cs typeface="Times New Roman"/>
                <a:sym typeface="Times New Roman"/>
              </a:rPr>
              <a:t>sử dụng cơ chế Signal – Slot để xử lý sự kiện: Signal phát sinh khi có sự kiện, Slot là hàm xử lý sự kiện.</a:t>
            </a:r>
            <a:endParaRPr sz="56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ct val="100000"/>
              <a:buFont typeface="Times New Roman"/>
              <a:buChar char="-"/>
            </a:pPr>
            <a:r>
              <a:rPr b="1" lang="en-US" sz="5600">
                <a:latin typeface="Times New Roman"/>
                <a:ea typeface="Times New Roman"/>
                <a:cs typeface="Times New Roman"/>
                <a:sym typeface="Times New Roman"/>
              </a:rPr>
              <a:t>Nguyên lý hoạt động của Signals và Slots:</a:t>
            </a:r>
            <a:endParaRPr b="1"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Font typeface="Times New Roman"/>
              <a:buAutoNum type="arabicPeriod"/>
            </a:pPr>
            <a:r>
              <a:rPr b="1" lang="en-US" sz="5600">
                <a:latin typeface="Times New Roman"/>
                <a:ea typeface="Times New Roman"/>
                <a:cs typeface="Times New Roman"/>
                <a:sym typeface="Times New Roman"/>
              </a:rPr>
              <a:t>Signal - Slot</a:t>
            </a:r>
            <a:endParaRPr b="1" sz="5600">
              <a:latin typeface="Times New Roman"/>
              <a:ea typeface="Times New Roman"/>
              <a:cs typeface="Times New Roman"/>
              <a:sym typeface="Times New Roman"/>
            </a:endParaRPr>
          </a:p>
          <a:p>
            <a:pPr indent="-317500" lvl="0" marL="857250" rtl="0" algn="l">
              <a:lnSpc>
                <a:spcPct val="115000"/>
              </a:lnSpc>
              <a:spcBef>
                <a:spcPts val="0"/>
              </a:spcBef>
              <a:spcAft>
                <a:spcPts val="0"/>
              </a:spcAft>
              <a:buSzPct val="100000"/>
              <a:buFont typeface="Times New Roman"/>
              <a:buChar char="●"/>
            </a:pPr>
            <a:r>
              <a:rPr b="1" lang="en-US" sz="5600">
                <a:latin typeface="Times New Roman"/>
                <a:ea typeface="Times New Roman"/>
                <a:cs typeface="Times New Roman"/>
                <a:sym typeface="Times New Roman"/>
              </a:rPr>
              <a:t>Signal</a:t>
            </a:r>
            <a:r>
              <a:rPr lang="en-US" sz="5600">
                <a:latin typeface="Times New Roman"/>
                <a:ea typeface="Times New Roman"/>
                <a:cs typeface="Times New Roman"/>
                <a:sym typeface="Times New Roman"/>
              </a:rPr>
              <a:t> là tín hiệu được phát ra khi có sự kiện xảy ra trong Qt (bấm chuột, kéo thả,...).</a:t>
            </a:r>
            <a:endParaRPr sz="5600">
              <a:latin typeface="Times New Roman"/>
              <a:ea typeface="Times New Roman"/>
              <a:cs typeface="Times New Roman"/>
              <a:sym typeface="Times New Roman"/>
            </a:endParaRPr>
          </a:p>
          <a:p>
            <a:pPr indent="-317500" lvl="0" marL="857250" rtl="0" algn="l">
              <a:lnSpc>
                <a:spcPct val="115000"/>
              </a:lnSpc>
              <a:spcBef>
                <a:spcPts val="0"/>
              </a:spcBef>
              <a:spcAft>
                <a:spcPts val="0"/>
              </a:spcAft>
              <a:buSzPct val="100000"/>
              <a:buFont typeface="Times New Roman"/>
              <a:buChar char="●"/>
            </a:pPr>
            <a:r>
              <a:rPr b="1" lang="en-US" sz="5600">
                <a:latin typeface="Times New Roman"/>
                <a:ea typeface="Times New Roman"/>
                <a:cs typeface="Times New Roman"/>
                <a:sym typeface="Times New Roman"/>
              </a:rPr>
              <a:t>Slot</a:t>
            </a:r>
            <a:r>
              <a:rPr lang="en-US" sz="5600">
                <a:latin typeface="Times New Roman"/>
                <a:ea typeface="Times New Roman"/>
                <a:cs typeface="Times New Roman"/>
                <a:sym typeface="Times New Roman"/>
              </a:rPr>
              <a:t> là một hàm bình thường trong lớp, được gọi khi signal tương ứng được phát ra.</a:t>
            </a: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Font typeface="Times New Roman"/>
              <a:buAutoNum type="arabicPeriod"/>
            </a:pPr>
            <a:r>
              <a:rPr b="1" lang="en-US" sz="5600">
                <a:latin typeface="Times New Roman"/>
                <a:ea typeface="Times New Roman"/>
                <a:cs typeface="Times New Roman"/>
                <a:sym typeface="Times New Roman"/>
              </a:rPr>
              <a:t>Connect</a:t>
            </a:r>
            <a:endParaRPr b="1" sz="5600">
              <a:latin typeface="Times New Roman"/>
              <a:ea typeface="Times New Roman"/>
              <a:cs typeface="Times New Roman"/>
              <a:sym typeface="Times New Roman"/>
            </a:endParaRPr>
          </a:p>
          <a:p>
            <a:pPr indent="-37465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Kết nối signal và slot qua các đối tượng cụ thể (không phải qua từng lớp).</a:t>
            </a:r>
            <a:endParaRPr sz="5600">
              <a:latin typeface="Times New Roman"/>
              <a:ea typeface="Times New Roman"/>
              <a:cs typeface="Times New Roman"/>
              <a:sym typeface="Times New Roman"/>
            </a:endParaRPr>
          </a:p>
          <a:p>
            <a:pPr indent="0" lvl="0" marL="914400" rtl="0" algn="l">
              <a:lnSpc>
                <a:spcPct val="115000"/>
              </a:lnSpc>
              <a:spcBef>
                <a:spcPts val="1200"/>
              </a:spcBef>
              <a:spcAft>
                <a:spcPts val="0"/>
              </a:spcAft>
              <a:buNone/>
            </a:pPr>
            <a:r>
              <a:rPr lang="en-US" sz="5600">
                <a:latin typeface="Times New Roman"/>
                <a:ea typeface="Times New Roman"/>
                <a:cs typeface="Times New Roman"/>
                <a:sym typeface="Times New Roman"/>
              </a:rPr>
              <a:t>Ví dụ: nếu ta có </a:t>
            </a:r>
            <a:r>
              <a:rPr lang="en-US" sz="5600">
                <a:solidFill>
                  <a:srgbClr val="188038"/>
                </a:solidFill>
                <a:latin typeface="Times New Roman"/>
                <a:ea typeface="Times New Roman"/>
                <a:cs typeface="Times New Roman"/>
                <a:sym typeface="Times New Roman"/>
              </a:rPr>
              <a:t>object1</a:t>
            </a:r>
            <a:r>
              <a:rPr lang="en-US" sz="5600">
                <a:latin typeface="Times New Roman"/>
                <a:ea typeface="Times New Roman"/>
                <a:cs typeface="Times New Roman"/>
                <a:sym typeface="Times New Roman"/>
              </a:rPr>
              <a:t>, </a:t>
            </a:r>
            <a:r>
              <a:rPr lang="en-US" sz="5600">
                <a:solidFill>
                  <a:srgbClr val="188038"/>
                </a:solidFill>
                <a:latin typeface="Times New Roman"/>
                <a:ea typeface="Times New Roman"/>
                <a:cs typeface="Times New Roman"/>
                <a:sym typeface="Times New Roman"/>
              </a:rPr>
              <a:t>object2</a:t>
            </a:r>
            <a:r>
              <a:rPr lang="en-US" sz="5600">
                <a:latin typeface="Times New Roman"/>
                <a:ea typeface="Times New Roman"/>
                <a:cs typeface="Times New Roman"/>
                <a:sym typeface="Times New Roman"/>
              </a:rPr>
              <a:t> (thuộc lớp A) và </a:t>
            </a:r>
            <a:r>
              <a:rPr lang="en-US" sz="5600">
                <a:solidFill>
                  <a:srgbClr val="188038"/>
                </a:solidFill>
                <a:latin typeface="Times New Roman"/>
                <a:ea typeface="Times New Roman"/>
                <a:cs typeface="Times New Roman"/>
                <a:sym typeface="Times New Roman"/>
              </a:rPr>
              <a:t>object3</a:t>
            </a:r>
            <a:r>
              <a:rPr lang="en-US" sz="5600">
                <a:latin typeface="Times New Roman"/>
                <a:ea typeface="Times New Roman"/>
                <a:cs typeface="Times New Roman"/>
                <a:sym typeface="Times New Roman"/>
              </a:rPr>
              <a:t> (thuộc lớp B), ta chỉ kết nối giữa các đối tượng như </a:t>
            </a:r>
            <a:r>
              <a:rPr lang="en-US" sz="5600">
                <a:solidFill>
                  <a:srgbClr val="188038"/>
                </a:solidFill>
                <a:latin typeface="Times New Roman"/>
                <a:ea typeface="Times New Roman"/>
                <a:cs typeface="Times New Roman"/>
                <a:sym typeface="Times New Roman"/>
              </a:rPr>
              <a:t>object1</a:t>
            </a:r>
            <a:r>
              <a:rPr lang="en-US" sz="5600">
                <a:latin typeface="Times New Roman"/>
                <a:ea typeface="Times New Roman"/>
                <a:cs typeface="Times New Roman"/>
                <a:sym typeface="Times New Roman"/>
              </a:rPr>
              <a:t> → </a:t>
            </a:r>
            <a:r>
              <a:rPr lang="en-US" sz="5600">
                <a:solidFill>
                  <a:srgbClr val="188038"/>
                </a:solidFill>
                <a:latin typeface="Times New Roman"/>
                <a:ea typeface="Times New Roman"/>
                <a:cs typeface="Times New Roman"/>
                <a:sym typeface="Times New Roman"/>
              </a:rPr>
              <a:t>object2</a:t>
            </a:r>
            <a:r>
              <a:rPr lang="en-US" sz="5600">
                <a:latin typeface="Times New Roman"/>
                <a:ea typeface="Times New Roman"/>
                <a:cs typeface="Times New Roman"/>
                <a:sym typeface="Times New Roman"/>
              </a:rPr>
              <a:t>, chứ không nối trực tiếp lớp A → lớp B.</a:t>
            </a:r>
            <a:endParaRPr sz="5600">
              <a:latin typeface="Times New Roman"/>
              <a:ea typeface="Times New Roman"/>
              <a:cs typeface="Times New Roman"/>
              <a:sym typeface="Times New Roman"/>
            </a:endParaRPr>
          </a:p>
          <a:p>
            <a:pPr indent="-374650" lvl="0" marL="914400" rtl="0" algn="l">
              <a:lnSpc>
                <a:spcPct val="115000"/>
              </a:lnSpc>
              <a:spcBef>
                <a:spcPts val="1200"/>
              </a:spcBef>
              <a:spcAft>
                <a:spcPts val="0"/>
              </a:spcAft>
              <a:buSzPct val="100000"/>
              <a:buFont typeface="Times New Roman"/>
              <a:buChar char="●"/>
            </a:pPr>
            <a:r>
              <a:rPr lang="en-US" sz="5600">
                <a:latin typeface="Times New Roman"/>
                <a:ea typeface="Times New Roman"/>
                <a:cs typeface="Times New Roman"/>
                <a:sym typeface="Times New Roman"/>
              </a:rPr>
              <a:t>Khi kết nối, đối tượng phát signal sẽ gọi slot của đối tượng nhận mỗi khi phát tín hiệu.</a:t>
            </a:r>
            <a:endParaRPr sz="5600">
              <a:latin typeface="Times New Roman"/>
              <a:ea typeface="Times New Roman"/>
              <a:cs typeface="Times New Roman"/>
              <a:sym typeface="Times New Roman"/>
            </a:endParaRPr>
          </a:p>
          <a:p>
            <a:pPr indent="-374650" lvl="0" marL="914400" rtl="0" algn="l">
              <a:lnSpc>
                <a:spcPct val="115000"/>
              </a:lnSpc>
              <a:spcBef>
                <a:spcPts val="0"/>
              </a:spcBef>
              <a:spcAft>
                <a:spcPts val="0"/>
              </a:spcAft>
              <a:buSzPct val="100000"/>
              <a:buFont typeface="Times New Roman"/>
              <a:buChar char="●"/>
            </a:pPr>
            <a:r>
              <a:rPr lang="en-US" sz="5600">
                <a:latin typeface="Times New Roman"/>
                <a:ea typeface="Times New Roman"/>
                <a:cs typeface="Times New Roman"/>
                <a:sym typeface="Times New Roman"/>
              </a:rPr>
              <a:t>Một signal có thể kết nối với nhiều slot, và ngược lại, một slot cũng có thể kết nối với nhiều signal.</a:t>
            </a:r>
            <a:endParaRPr sz="5600">
              <a:latin typeface="Times New Roman"/>
              <a:ea typeface="Times New Roman"/>
              <a:cs typeface="Times New Roman"/>
              <a:sym typeface="Times New Roman"/>
            </a:endParaRPr>
          </a:p>
          <a:p>
            <a:pPr indent="0" lvl="0" marL="91440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None/>
            </a:pPr>
            <a:br>
              <a:rPr lang="en-US" sz="5600">
                <a:latin typeface="Times New Roman"/>
                <a:ea typeface="Times New Roman"/>
                <a:cs typeface="Times New Roman"/>
                <a:sym typeface="Times New Roman"/>
              </a:rPr>
            </a:b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5600">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2573">
                <a:latin typeface="Times New Roman"/>
                <a:ea typeface="Times New Roman"/>
                <a:cs typeface="Times New Roman"/>
                <a:sym typeface="Times New Roman"/>
              </a:rPr>
            </a:b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latin typeface="Times New Roman"/>
              <a:ea typeface="Times New Roman"/>
              <a:cs typeface="Times New Roman"/>
              <a:sym typeface="Times New Roman"/>
            </a:endParaRPr>
          </a:p>
        </p:txBody>
      </p:sp>
      <p:sp>
        <p:nvSpPr>
          <p:cNvPr id="144" name="Google Shape;144;g379a455b801_2_57"/>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4</a:t>
            </a:r>
            <a:r>
              <a:rPr lang="en-US" sz="2100">
                <a:solidFill>
                  <a:srgbClr val="FF0000"/>
                </a:solidFill>
                <a:latin typeface="Times New Roman"/>
                <a:ea typeface="Times New Roman"/>
                <a:cs typeface="Times New Roman"/>
                <a:sym typeface="Times New Roman"/>
              </a:rPr>
              <a:t>.	Signals và Slots</a:t>
            </a:r>
            <a:endParaRPr sz="2100">
              <a:solidFill>
                <a:srgbClr val="FF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79a455b801_2_85"/>
          <p:cNvSpPr txBox="1"/>
          <p:nvPr>
            <p:ph type="title"/>
          </p:nvPr>
        </p:nvSpPr>
        <p:spPr>
          <a:xfrm>
            <a:off x="238550" y="288225"/>
            <a:ext cx="5238000" cy="6858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Merriweather Medium"/>
                <a:ea typeface="Merriweather Medium"/>
                <a:cs typeface="Merriweather Medium"/>
                <a:sym typeface="Merriweather Medium"/>
              </a:rPr>
              <a:t>II.  Cơ sở lý thuyết</a:t>
            </a:r>
            <a:endParaRPr/>
          </a:p>
        </p:txBody>
      </p:sp>
      <p:sp>
        <p:nvSpPr>
          <p:cNvPr id="150" name="Google Shape;150;g379a455b801_2_85"/>
          <p:cNvSpPr txBox="1"/>
          <p:nvPr>
            <p:ph idx="1" type="body"/>
          </p:nvPr>
        </p:nvSpPr>
        <p:spPr>
          <a:xfrm>
            <a:off x="238550" y="1435300"/>
            <a:ext cx="8905500" cy="32931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91440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None/>
            </a:pPr>
            <a:br>
              <a:rPr lang="en-US" sz="5600">
                <a:latin typeface="Times New Roman"/>
                <a:ea typeface="Times New Roman"/>
                <a:cs typeface="Times New Roman"/>
                <a:sym typeface="Times New Roman"/>
              </a:rPr>
            </a:b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5600">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56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2573">
                <a:latin typeface="Times New Roman"/>
                <a:ea typeface="Times New Roman"/>
                <a:cs typeface="Times New Roman"/>
                <a:sym typeface="Times New Roman"/>
              </a:rPr>
            </a:b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b="1" sz="25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44000"/>
              <a:buFont typeface="Arial"/>
              <a:buNone/>
            </a:pPr>
            <a:r>
              <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latin typeface="Times New Roman"/>
              <a:ea typeface="Times New Roman"/>
              <a:cs typeface="Times New Roman"/>
              <a:sym typeface="Times New Roman"/>
            </a:endParaRPr>
          </a:p>
        </p:txBody>
      </p:sp>
      <p:sp>
        <p:nvSpPr>
          <p:cNvPr id="151" name="Google Shape;151;g379a455b801_2_85"/>
          <p:cNvSpPr txBox="1"/>
          <p:nvPr/>
        </p:nvSpPr>
        <p:spPr>
          <a:xfrm>
            <a:off x="238550" y="927400"/>
            <a:ext cx="2627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4.	Signals và Slots</a:t>
            </a:r>
            <a:endParaRPr sz="2100">
              <a:solidFill>
                <a:srgbClr val="FF0000"/>
              </a:solidFill>
              <a:latin typeface="Times New Roman"/>
              <a:ea typeface="Times New Roman"/>
              <a:cs typeface="Times New Roman"/>
              <a:sym typeface="Times New Roman"/>
            </a:endParaRPr>
          </a:p>
        </p:txBody>
      </p:sp>
      <p:pic>
        <p:nvPicPr>
          <p:cNvPr id="152" name="Google Shape;152;g379a455b801_2_85"/>
          <p:cNvPicPr preferRelativeResize="0"/>
          <p:nvPr/>
        </p:nvPicPr>
        <p:blipFill>
          <a:blip r:embed="rId3">
            <a:alphaModFix/>
          </a:blip>
          <a:stretch>
            <a:fillRect/>
          </a:stretch>
        </p:blipFill>
        <p:spPr>
          <a:xfrm>
            <a:off x="2866250" y="1435300"/>
            <a:ext cx="2864101" cy="2780851"/>
          </a:xfrm>
          <a:prstGeom prst="rect">
            <a:avLst/>
          </a:prstGeom>
          <a:noFill/>
          <a:ln>
            <a:noFill/>
          </a:ln>
        </p:spPr>
      </p:pic>
      <p:sp>
        <p:nvSpPr>
          <p:cNvPr id="153" name="Google Shape;153;g379a455b801_2_85"/>
          <p:cNvSpPr txBox="1"/>
          <p:nvPr/>
        </p:nvSpPr>
        <p:spPr>
          <a:xfrm>
            <a:off x="2660000" y="4322800"/>
            <a:ext cx="3276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Sơ đồ nguyên lý hoạt động của Signals and slots</a:t>
            </a:r>
            <a:endParaRPr i="1" sz="12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40edba4fb2_0_29"/>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III.  Linh kiện sử dụng</a:t>
            </a:r>
            <a:endParaRPr>
              <a:latin typeface="Times New Roman"/>
              <a:ea typeface="Times New Roman"/>
              <a:cs typeface="Times New Roman"/>
              <a:sym typeface="Times New Roman"/>
            </a:endParaRPr>
          </a:p>
        </p:txBody>
      </p:sp>
      <p:sp>
        <p:nvSpPr>
          <p:cNvPr id="159" name="Google Shape;159;g340edba4fb2_0_29"/>
          <p:cNvSpPr txBox="1"/>
          <p:nvPr>
            <p:ph idx="1" type="body"/>
          </p:nvPr>
        </p:nvSpPr>
        <p:spPr>
          <a:xfrm>
            <a:off x="1119325" y="2456051"/>
            <a:ext cx="1070700" cy="255000"/>
          </a:xfrm>
          <a:prstGeom prst="rect">
            <a:avLst/>
          </a:prstGeom>
        </p:spPr>
        <p:txBody>
          <a:bodyPr anchorCtr="0" anchor="t" bIns="34275" lIns="68575" spcFirstLastPara="1" rIns="68575" wrap="square" tIns="34275">
            <a:noAutofit/>
          </a:bodyPr>
          <a:lstStyle/>
          <a:p>
            <a:pPr indent="0" lvl="0" marL="0" rtl="0" algn="just">
              <a:lnSpc>
                <a:spcPct val="115000"/>
              </a:lnSpc>
              <a:spcBef>
                <a:spcPts val="600"/>
              </a:spcBef>
              <a:spcAft>
                <a:spcPts val="0"/>
              </a:spcAft>
              <a:buClr>
                <a:schemeClr val="dk1"/>
              </a:buClr>
              <a:buSzPts val="1100"/>
              <a:buFont typeface="Arial"/>
              <a:buNone/>
            </a:pPr>
            <a:r>
              <a:rPr i="1" lang="en-US" sz="1200">
                <a:solidFill>
                  <a:schemeClr val="dk1"/>
                </a:solidFill>
                <a:latin typeface="Times New Roman"/>
                <a:ea typeface="Times New Roman"/>
                <a:cs typeface="Times New Roman"/>
                <a:sym typeface="Times New Roman"/>
              </a:rPr>
              <a:t>Chip ESP32</a:t>
            </a:r>
            <a:endParaRPr i="1" sz="1200">
              <a:latin typeface="Times New Roman"/>
              <a:ea typeface="Times New Roman"/>
              <a:cs typeface="Times New Roman"/>
              <a:sym typeface="Times New Roman"/>
            </a:endParaRPr>
          </a:p>
        </p:txBody>
      </p:sp>
      <p:pic>
        <p:nvPicPr>
          <p:cNvPr id="160" name="Google Shape;160;g340edba4fb2_0_29"/>
          <p:cNvPicPr preferRelativeResize="0"/>
          <p:nvPr/>
        </p:nvPicPr>
        <p:blipFill>
          <a:blip r:embed="rId3">
            <a:alphaModFix/>
          </a:blip>
          <a:stretch>
            <a:fillRect/>
          </a:stretch>
        </p:blipFill>
        <p:spPr>
          <a:xfrm>
            <a:off x="593400" y="983275"/>
            <a:ext cx="2122549" cy="1443050"/>
          </a:xfrm>
          <a:prstGeom prst="rect">
            <a:avLst/>
          </a:prstGeom>
          <a:noFill/>
          <a:ln>
            <a:noFill/>
          </a:ln>
        </p:spPr>
      </p:pic>
      <p:pic>
        <p:nvPicPr>
          <p:cNvPr id="161" name="Google Shape;161;g340edba4fb2_0_29"/>
          <p:cNvPicPr preferRelativeResize="0"/>
          <p:nvPr/>
        </p:nvPicPr>
        <p:blipFill>
          <a:blip r:embed="rId4">
            <a:alphaModFix/>
          </a:blip>
          <a:stretch>
            <a:fillRect/>
          </a:stretch>
        </p:blipFill>
        <p:spPr>
          <a:xfrm>
            <a:off x="3315800" y="965675"/>
            <a:ext cx="2512398" cy="1443050"/>
          </a:xfrm>
          <a:prstGeom prst="rect">
            <a:avLst/>
          </a:prstGeom>
          <a:noFill/>
          <a:ln>
            <a:noFill/>
          </a:ln>
        </p:spPr>
      </p:pic>
      <p:sp>
        <p:nvSpPr>
          <p:cNvPr id="162" name="Google Shape;162;g340edba4fb2_0_29"/>
          <p:cNvSpPr txBox="1"/>
          <p:nvPr/>
        </p:nvSpPr>
        <p:spPr>
          <a:xfrm>
            <a:off x="3944850" y="2426325"/>
            <a:ext cx="1254300" cy="30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US" sz="1200">
                <a:solidFill>
                  <a:schemeClr val="dk1"/>
                </a:solidFill>
                <a:latin typeface="Times New Roman"/>
                <a:ea typeface="Times New Roman"/>
                <a:cs typeface="Times New Roman"/>
                <a:sym typeface="Times New Roman"/>
              </a:rPr>
              <a:t>Biến trở Volume</a:t>
            </a:r>
            <a:endParaRPr i="1" sz="1200">
              <a:solidFill>
                <a:schemeClr val="dk1"/>
              </a:solidFill>
              <a:latin typeface="Times New Roman"/>
              <a:ea typeface="Times New Roman"/>
              <a:cs typeface="Times New Roman"/>
              <a:sym typeface="Times New Roman"/>
            </a:endParaRPr>
          </a:p>
        </p:txBody>
      </p:sp>
      <p:pic>
        <p:nvPicPr>
          <p:cNvPr id="163" name="Google Shape;163;g340edba4fb2_0_29"/>
          <p:cNvPicPr preferRelativeResize="0"/>
          <p:nvPr/>
        </p:nvPicPr>
        <p:blipFill rotWithShape="1">
          <a:blip r:embed="rId5">
            <a:alphaModFix/>
          </a:blip>
          <a:srcRect b="4089" l="3986" r="2442" t="5624"/>
          <a:stretch/>
        </p:blipFill>
        <p:spPr>
          <a:xfrm>
            <a:off x="6086925" y="965675"/>
            <a:ext cx="2188350" cy="1443050"/>
          </a:xfrm>
          <a:prstGeom prst="rect">
            <a:avLst/>
          </a:prstGeom>
          <a:noFill/>
          <a:ln>
            <a:noFill/>
          </a:ln>
        </p:spPr>
      </p:pic>
      <p:sp>
        <p:nvSpPr>
          <p:cNvPr id="164" name="Google Shape;164;g340edba4fb2_0_29"/>
          <p:cNvSpPr txBox="1"/>
          <p:nvPr/>
        </p:nvSpPr>
        <p:spPr>
          <a:xfrm>
            <a:off x="6553950" y="2371425"/>
            <a:ext cx="1254300" cy="2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300">
                <a:solidFill>
                  <a:schemeClr val="dk1"/>
                </a:solidFill>
                <a:latin typeface="Times New Roman"/>
                <a:ea typeface="Times New Roman"/>
                <a:cs typeface="Times New Roman"/>
                <a:sym typeface="Times New Roman"/>
              </a:rPr>
              <a:t>Raspberry Pi</a:t>
            </a:r>
            <a:endParaRPr i="1" sz="1300">
              <a:solidFill>
                <a:schemeClr val="dk1"/>
              </a:solidFill>
              <a:latin typeface="Times New Roman"/>
              <a:ea typeface="Times New Roman"/>
              <a:cs typeface="Times New Roman"/>
              <a:sym typeface="Times New Roman"/>
            </a:endParaRPr>
          </a:p>
        </p:txBody>
      </p:sp>
      <p:pic>
        <p:nvPicPr>
          <p:cNvPr id="165" name="Google Shape;165;g340edba4fb2_0_29"/>
          <p:cNvPicPr preferRelativeResize="0"/>
          <p:nvPr/>
        </p:nvPicPr>
        <p:blipFill>
          <a:blip r:embed="rId6">
            <a:alphaModFix/>
          </a:blip>
          <a:stretch>
            <a:fillRect/>
          </a:stretch>
        </p:blipFill>
        <p:spPr>
          <a:xfrm>
            <a:off x="3284325" y="2900999"/>
            <a:ext cx="2575325" cy="997425"/>
          </a:xfrm>
          <a:prstGeom prst="rect">
            <a:avLst/>
          </a:prstGeom>
          <a:noFill/>
          <a:ln>
            <a:noFill/>
          </a:ln>
        </p:spPr>
      </p:pic>
      <p:sp>
        <p:nvSpPr>
          <p:cNvPr id="166" name="Google Shape;166;g340edba4fb2_0_29"/>
          <p:cNvSpPr txBox="1"/>
          <p:nvPr/>
        </p:nvSpPr>
        <p:spPr>
          <a:xfrm>
            <a:off x="3898338" y="4071300"/>
            <a:ext cx="1347300" cy="34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US" sz="1200">
                <a:solidFill>
                  <a:schemeClr val="dk1"/>
                </a:solidFill>
                <a:latin typeface="Times New Roman"/>
                <a:ea typeface="Times New Roman"/>
                <a:cs typeface="Times New Roman"/>
                <a:sym typeface="Times New Roman"/>
              </a:rPr>
              <a:t>Cảm biến DHT11</a:t>
            </a:r>
            <a:endParaRPr i="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3031208b6_0_113"/>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IV.  Thiết kế hệ thống</a:t>
            </a:r>
            <a:endParaRPr>
              <a:latin typeface="Times New Roman"/>
              <a:ea typeface="Times New Roman"/>
              <a:cs typeface="Times New Roman"/>
              <a:sym typeface="Times New Roman"/>
            </a:endParaRPr>
          </a:p>
        </p:txBody>
      </p:sp>
      <p:sp>
        <p:nvSpPr>
          <p:cNvPr id="172" name="Google Shape;172;g373031208b6_0_113"/>
          <p:cNvSpPr txBox="1"/>
          <p:nvPr>
            <p:ph idx="1" type="body"/>
          </p:nvPr>
        </p:nvSpPr>
        <p:spPr>
          <a:xfrm>
            <a:off x="6771875" y="3728250"/>
            <a:ext cx="2372100" cy="367800"/>
          </a:xfrm>
          <a:prstGeom prst="rect">
            <a:avLst/>
          </a:prstGeom>
        </p:spPr>
        <p:txBody>
          <a:bodyPr anchorCtr="0" anchor="t" bIns="34275" lIns="68575" spcFirstLastPara="1" rIns="68575" wrap="square" tIns="34275">
            <a:noAutofit/>
          </a:bodyPr>
          <a:lstStyle/>
          <a:p>
            <a:pPr indent="0" lvl="0" marL="0" rtl="0" algn="just">
              <a:lnSpc>
                <a:spcPct val="130000"/>
              </a:lnSpc>
              <a:spcBef>
                <a:spcPts val="600"/>
              </a:spcBef>
              <a:spcAft>
                <a:spcPts val="0"/>
              </a:spcAft>
              <a:buNone/>
            </a:pPr>
            <a:r>
              <a:rPr lang="en-US" sz="1400">
                <a:solidFill>
                  <a:schemeClr val="dk1"/>
                </a:solidFill>
                <a:latin typeface="Arial"/>
                <a:ea typeface="Arial"/>
                <a:cs typeface="Arial"/>
                <a:sym typeface="Arial"/>
              </a:rPr>
              <a:t>	</a:t>
            </a:r>
            <a:r>
              <a:rPr i="1" lang="en-US" sz="1200">
                <a:solidFill>
                  <a:schemeClr val="dk1"/>
                </a:solidFill>
                <a:latin typeface="Times New Roman"/>
                <a:ea typeface="Times New Roman"/>
                <a:cs typeface="Times New Roman"/>
                <a:sym typeface="Times New Roman"/>
              </a:rPr>
              <a:t>Sơ đồ khối phía Qt</a:t>
            </a:r>
            <a:endParaRPr i="1" sz="1200">
              <a:latin typeface="Times New Roman"/>
              <a:ea typeface="Times New Roman"/>
              <a:cs typeface="Times New Roman"/>
              <a:sym typeface="Times New Roman"/>
            </a:endParaRPr>
          </a:p>
        </p:txBody>
      </p:sp>
      <p:sp>
        <p:nvSpPr>
          <p:cNvPr id="173" name="Google Shape;173;g373031208b6_0_113"/>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1.	Sơ đồ khối của hệ thống</a:t>
            </a:r>
            <a:endParaRPr sz="2100">
              <a:solidFill>
                <a:srgbClr val="FF0000"/>
              </a:solidFill>
              <a:latin typeface="Times New Roman"/>
              <a:ea typeface="Times New Roman"/>
              <a:cs typeface="Times New Roman"/>
              <a:sym typeface="Times New Roman"/>
            </a:endParaRPr>
          </a:p>
        </p:txBody>
      </p:sp>
      <p:sp>
        <p:nvSpPr>
          <p:cNvPr id="174" name="Google Shape;174;g373031208b6_0_113"/>
          <p:cNvSpPr txBox="1"/>
          <p:nvPr/>
        </p:nvSpPr>
        <p:spPr>
          <a:xfrm>
            <a:off x="223025" y="1461450"/>
            <a:ext cx="6025200" cy="28908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Start : </a:t>
            </a:r>
            <a:r>
              <a:rPr lang="en-US" sz="1200">
                <a:solidFill>
                  <a:schemeClr val="dk1"/>
                </a:solidFill>
                <a:latin typeface="Times New Roman"/>
                <a:ea typeface="Times New Roman"/>
                <a:cs typeface="Times New Roman"/>
                <a:sym typeface="Times New Roman"/>
              </a:rPr>
              <a:t>Hệ thống bắt đầu chạy chương trình.</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Khởi chạy GUI (Giao diện người dùng): </a:t>
            </a:r>
            <a:r>
              <a:rPr lang="en-US" sz="1200">
                <a:solidFill>
                  <a:schemeClr val="dk1"/>
                </a:solidFill>
                <a:latin typeface="Times New Roman"/>
                <a:ea typeface="Times New Roman"/>
                <a:cs typeface="Times New Roman"/>
                <a:sym typeface="Times New Roman"/>
              </a:rPr>
              <a:t>Khi chương trình khởi động, giao diện người dùng (GUI) sẽ được mở để người dùng thao tác, hiển thị thông tin và quản lý dữ liệu.</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Hai chức năng chính được thực hiện song song/tách nhánh từ GUI</a:t>
            </a:r>
            <a:r>
              <a:rPr lang="en-US"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Gửi và nhậ</a:t>
            </a:r>
            <a:r>
              <a:rPr b="1" lang="en-US" sz="1200">
                <a:solidFill>
                  <a:schemeClr val="dk1"/>
                </a:solidFill>
                <a:latin typeface="Times New Roman"/>
                <a:ea typeface="Times New Roman"/>
                <a:cs typeface="Times New Roman"/>
                <a:sym typeface="Times New Roman"/>
              </a:rPr>
              <a:t>n</a:t>
            </a:r>
            <a:r>
              <a:rPr b="1" lang="en-US" sz="1200">
                <a:solidFill>
                  <a:schemeClr val="dk1"/>
                </a:solidFill>
                <a:latin typeface="Times New Roman"/>
                <a:ea typeface="Times New Roman"/>
                <a:cs typeface="Times New Roman"/>
                <a:sym typeface="Times New Roman"/>
              </a:rPr>
              <a:t> dữ liệu qua Serial</a:t>
            </a:r>
            <a:endParaRPr b="1"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GUI sẽ giao tiếp với thiết bị phần cứng thông qua giao thức Serial (UART).</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Có thể gửi lệnh điều khiển từ GUI xuống thiết bị, đồng thời nhận dữ liệu phản hồi để hiển thị cho người dùng.</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Lắng nghe dữ liệu từ Raspberry</a:t>
            </a:r>
            <a:endParaRPr b="1"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GUI đồng thời mở kênh giao tiếp với Raspberry Pi để lắng nghe dữ liệu mà Raspberry gửi về.</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Raspberry gửi dữ liệu loại biển báo đến cho  GUI cập nhật theo thời gian thực.</a:t>
            </a:r>
            <a:endParaRPr sz="1200">
              <a:solidFill>
                <a:schemeClr val="dk1"/>
              </a:solidFill>
              <a:latin typeface="Times New Roman"/>
              <a:ea typeface="Times New Roman"/>
              <a:cs typeface="Times New Roman"/>
              <a:sym typeface="Times New Roman"/>
            </a:endParaRPr>
          </a:p>
        </p:txBody>
      </p:sp>
      <p:pic>
        <p:nvPicPr>
          <p:cNvPr id="175" name="Google Shape;175;g373031208b6_0_113"/>
          <p:cNvPicPr preferRelativeResize="0"/>
          <p:nvPr/>
        </p:nvPicPr>
        <p:blipFill rotWithShape="1">
          <a:blip r:embed="rId3">
            <a:alphaModFix/>
          </a:blip>
          <a:srcRect b="4437" l="0" r="10889" t="6807"/>
          <a:stretch/>
        </p:blipFill>
        <p:spPr>
          <a:xfrm>
            <a:off x="6248225" y="515700"/>
            <a:ext cx="2763125" cy="32125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9a455b801_4_2"/>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IV.  Thiết kế hệ thống</a:t>
            </a:r>
            <a:endParaRPr>
              <a:latin typeface="Times New Roman"/>
              <a:ea typeface="Times New Roman"/>
              <a:cs typeface="Times New Roman"/>
              <a:sym typeface="Times New Roman"/>
            </a:endParaRPr>
          </a:p>
        </p:txBody>
      </p:sp>
      <p:sp>
        <p:nvSpPr>
          <p:cNvPr id="181" name="Google Shape;181;g379a455b801_4_2"/>
          <p:cNvSpPr txBox="1"/>
          <p:nvPr>
            <p:ph idx="1" type="body"/>
          </p:nvPr>
        </p:nvSpPr>
        <p:spPr>
          <a:xfrm>
            <a:off x="6665551" y="4160150"/>
            <a:ext cx="2105700" cy="367800"/>
          </a:xfrm>
          <a:prstGeom prst="rect">
            <a:avLst/>
          </a:prstGeom>
        </p:spPr>
        <p:txBody>
          <a:bodyPr anchorCtr="0" anchor="t" bIns="34275" lIns="68575" spcFirstLastPara="1" rIns="68575" wrap="square" tIns="34275">
            <a:noAutofit/>
          </a:bodyPr>
          <a:lstStyle/>
          <a:p>
            <a:pPr indent="0" lvl="0" marL="0" rtl="0" algn="just">
              <a:lnSpc>
                <a:spcPct val="130000"/>
              </a:lnSpc>
              <a:spcBef>
                <a:spcPts val="600"/>
              </a:spcBef>
              <a:spcAft>
                <a:spcPts val="0"/>
              </a:spcAft>
              <a:buNone/>
            </a:pPr>
            <a:r>
              <a:rPr i="1" lang="en-US" sz="1200">
                <a:solidFill>
                  <a:schemeClr val="dk1"/>
                </a:solidFill>
                <a:latin typeface="Times New Roman"/>
                <a:ea typeface="Times New Roman"/>
                <a:cs typeface="Times New Roman"/>
                <a:sym typeface="Times New Roman"/>
              </a:rPr>
              <a:t>   </a:t>
            </a:r>
            <a:r>
              <a:rPr i="1" lang="en-US" sz="1200">
                <a:solidFill>
                  <a:schemeClr val="dk1"/>
                </a:solidFill>
                <a:latin typeface="Times New Roman"/>
                <a:ea typeface="Times New Roman"/>
                <a:cs typeface="Times New Roman"/>
                <a:sym typeface="Times New Roman"/>
              </a:rPr>
              <a:t>Sơ đồ khối phía RaspBerry</a:t>
            </a:r>
            <a:endParaRPr i="1" sz="1200">
              <a:latin typeface="Times New Roman"/>
              <a:ea typeface="Times New Roman"/>
              <a:cs typeface="Times New Roman"/>
              <a:sym typeface="Times New Roman"/>
            </a:endParaRPr>
          </a:p>
        </p:txBody>
      </p:sp>
      <p:sp>
        <p:nvSpPr>
          <p:cNvPr id="182" name="Google Shape;182;g379a455b801_4_2"/>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1.	Sơ đồ khối của hệ thống</a:t>
            </a:r>
            <a:endParaRPr sz="2100">
              <a:solidFill>
                <a:srgbClr val="FF0000"/>
              </a:solidFill>
              <a:latin typeface="Times New Roman"/>
              <a:ea typeface="Times New Roman"/>
              <a:cs typeface="Times New Roman"/>
              <a:sym typeface="Times New Roman"/>
            </a:endParaRPr>
          </a:p>
        </p:txBody>
      </p:sp>
      <p:sp>
        <p:nvSpPr>
          <p:cNvPr id="183" name="Google Shape;183;g379a455b801_4_2"/>
          <p:cNvSpPr txBox="1"/>
          <p:nvPr/>
        </p:nvSpPr>
        <p:spPr>
          <a:xfrm>
            <a:off x="223025" y="1461450"/>
            <a:ext cx="6025200" cy="369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pic>
        <p:nvPicPr>
          <p:cNvPr id="184" name="Google Shape;184;g379a455b801_4_2"/>
          <p:cNvPicPr preferRelativeResize="0"/>
          <p:nvPr/>
        </p:nvPicPr>
        <p:blipFill rotWithShape="1">
          <a:blip r:embed="rId3">
            <a:alphaModFix/>
          </a:blip>
          <a:srcRect b="3767" l="4880" r="10388" t="2043"/>
          <a:stretch/>
        </p:blipFill>
        <p:spPr>
          <a:xfrm>
            <a:off x="6598900" y="953550"/>
            <a:ext cx="2239025" cy="3122150"/>
          </a:xfrm>
          <a:prstGeom prst="rect">
            <a:avLst/>
          </a:prstGeom>
          <a:noFill/>
          <a:ln>
            <a:noFill/>
          </a:ln>
        </p:spPr>
      </p:pic>
      <p:sp>
        <p:nvSpPr>
          <p:cNvPr id="185" name="Google Shape;185;g379a455b801_4_2"/>
          <p:cNvSpPr txBox="1"/>
          <p:nvPr/>
        </p:nvSpPr>
        <p:spPr>
          <a:xfrm>
            <a:off x="223025" y="1461450"/>
            <a:ext cx="60252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Hệ thống bắt đầu chạy chương trình.</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Khởi tạo hệ thống: khởi tạo camera và kết nối đến qt qua cổng</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Chụp ảnh từ camera và xử lý ảnh: kiểm tra nhận diện biển báo hợp lệ</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Trích xuất biển báo có độ tin cậy lớn hơn ngưỡng và gửi dữ liệu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88794ccd4c_0_0"/>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IV.  Thiết kế hệ thống</a:t>
            </a:r>
            <a:endParaRPr>
              <a:latin typeface="Times New Roman"/>
              <a:ea typeface="Times New Roman"/>
              <a:cs typeface="Times New Roman"/>
              <a:sym typeface="Times New Roman"/>
            </a:endParaRPr>
          </a:p>
        </p:txBody>
      </p:sp>
      <p:sp>
        <p:nvSpPr>
          <p:cNvPr id="191" name="Google Shape;191;g388794ccd4c_0_0"/>
          <p:cNvSpPr txBox="1"/>
          <p:nvPr>
            <p:ph idx="1" type="body"/>
          </p:nvPr>
        </p:nvSpPr>
        <p:spPr>
          <a:xfrm>
            <a:off x="6573888" y="4168600"/>
            <a:ext cx="2105700" cy="369300"/>
          </a:xfrm>
          <a:prstGeom prst="rect">
            <a:avLst/>
          </a:prstGeom>
        </p:spPr>
        <p:txBody>
          <a:bodyPr anchorCtr="0" anchor="t" bIns="34275" lIns="68575" spcFirstLastPara="1" rIns="68575" wrap="square" tIns="34275">
            <a:noAutofit/>
          </a:bodyPr>
          <a:lstStyle/>
          <a:p>
            <a:pPr indent="0" lvl="0" marL="0" rtl="0" algn="just">
              <a:lnSpc>
                <a:spcPct val="130000"/>
              </a:lnSpc>
              <a:spcBef>
                <a:spcPts val="600"/>
              </a:spcBef>
              <a:spcAft>
                <a:spcPts val="0"/>
              </a:spcAft>
              <a:buNone/>
            </a:pPr>
            <a:r>
              <a:rPr i="1" lang="en-US" sz="1200">
                <a:solidFill>
                  <a:schemeClr val="dk1"/>
                </a:solidFill>
                <a:latin typeface="Times New Roman"/>
                <a:ea typeface="Times New Roman"/>
                <a:cs typeface="Times New Roman"/>
                <a:sym typeface="Times New Roman"/>
              </a:rPr>
              <a:t>       Lưu đồ thuật toán Esp32</a:t>
            </a:r>
            <a:endParaRPr i="1" sz="1200">
              <a:latin typeface="Times New Roman"/>
              <a:ea typeface="Times New Roman"/>
              <a:cs typeface="Times New Roman"/>
              <a:sym typeface="Times New Roman"/>
            </a:endParaRPr>
          </a:p>
        </p:txBody>
      </p:sp>
      <p:sp>
        <p:nvSpPr>
          <p:cNvPr id="192" name="Google Shape;192;g388794ccd4c_0_0"/>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1.	Sơ đồ khối của hệ thống</a:t>
            </a:r>
            <a:endParaRPr sz="2100">
              <a:solidFill>
                <a:srgbClr val="FF0000"/>
              </a:solidFill>
              <a:latin typeface="Times New Roman"/>
              <a:ea typeface="Times New Roman"/>
              <a:cs typeface="Times New Roman"/>
              <a:sym typeface="Times New Roman"/>
            </a:endParaRPr>
          </a:p>
        </p:txBody>
      </p:sp>
      <p:sp>
        <p:nvSpPr>
          <p:cNvPr id="193" name="Google Shape;193;g388794ccd4c_0_0"/>
          <p:cNvSpPr txBox="1"/>
          <p:nvPr/>
        </p:nvSpPr>
        <p:spPr>
          <a:xfrm>
            <a:off x="223025" y="1461450"/>
            <a:ext cx="6025200" cy="369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94" name="Google Shape;194;g388794ccd4c_0_0"/>
          <p:cNvSpPr txBox="1"/>
          <p:nvPr/>
        </p:nvSpPr>
        <p:spPr>
          <a:xfrm>
            <a:off x="223025" y="1461450"/>
            <a:ext cx="60252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Hệ thống bắt đầu chạy chương trình.</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Khởi tạo kết nối</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Đọc các giá trị từ cảm biến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Gửi giá trị đọc được sang phía giao diện</a:t>
            </a:r>
            <a:endParaRPr sz="1200">
              <a:solidFill>
                <a:schemeClr val="dk1"/>
              </a:solidFill>
              <a:latin typeface="Times New Roman"/>
              <a:ea typeface="Times New Roman"/>
              <a:cs typeface="Times New Roman"/>
              <a:sym typeface="Times New Roman"/>
            </a:endParaRPr>
          </a:p>
        </p:txBody>
      </p:sp>
      <p:pic>
        <p:nvPicPr>
          <p:cNvPr id="195" name="Google Shape;195;g388794ccd4c_0_0"/>
          <p:cNvPicPr preferRelativeResize="0"/>
          <p:nvPr/>
        </p:nvPicPr>
        <p:blipFill>
          <a:blip r:embed="rId3">
            <a:alphaModFix/>
          </a:blip>
          <a:stretch>
            <a:fillRect/>
          </a:stretch>
        </p:blipFill>
        <p:spPr>
          <a:xfrm>
            <a:off x="6874738" y="477550"/>
            <a:ext cx="1503975" cy="36229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79a455b801_9_10"/>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IV.  Thiết kế hệ thống</a:t>
            </a:r>
            <a:endParaRPr>
              <a:latin typeface="Times New Roman"/>
              <a:ea typeface="Times New Roman"/>
              <a:cs typeface="Times New Roman"/>
              <a:sym typeface="Times New Roman"/>
            </a:endParaRPr>
          </a:p>
        </p:txBody>
      </p:sp>
      <p:sp>
        <p:nvSpPr>
          <p:cNvPr id="201" name="Google Shape;201;g379a455b801_9_10"/>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a:t>
            </a:r>
            <a:r>
              <a:rPr lang="en-US" sz="2100">
                <a:solidFill>
                  <a:srgbClr val="FF0000"/>
                </a:solidFill>
                <a:latin typeface="Times New Roman"/>
                <a:ea typeface="Times New Roman"/>
                <a:cs typeface="Times New Roman"/>
                <a:sym typeface="Times New Roman"/>
              </a:rPr>
              <a:t>.	Triển khai và tích hợp</a:t>
            </a:r>
            <a:endParaRPr sz="2100">
              <a:solidFill>
                <a:srgbClr val="FF0000"/>
              </a:solidFill>
              <a:latin typeface="Times New Roman"/>
              <a:ea typeface="Times New Roman"/>
              <a:cs typeface="Times New Roman"/>
              <a:sym typeface="Times New Roman"/>
            </a:endParaRPr>
          </a:p>
        </p:txBody>
      </p:sp>
      <p:sp>
        <p:nvSpPr>
          <p:cNvPr id="202" name="Google Shape;202;g379a455b801_9_10"/>
          <p:cNvSpPr txBox="1"/>
          <p:nvPr/>
        </p:nvSpPr>
        <p:spPr>
          <a:xfrm>
            <a:off x="223025" y="1461450"/>
            <a:ext cx="8921100" cy="30201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Phát triển phần mềm trên ESP32:</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Sử dụng Arduino IDE và lập trình bằng C++</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Áp dụng FreeRTOS để xử lý đa nhiệm, cho phép các tác vụ như đọc nút bấm, cảm biến…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Dữ liệu được gửi qua cổng serial ở định dạng “KEY:VALUE”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Phát triển phần mềm trên Raspberry Pi</a:t>
            </a:r>
            <a:endParaRPr b="1"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Viết chương trình Python, dùng thư viện OpenCV và TensorFlow Lite để xử lý hình ảnh và suy luận trên mô hình học máy.</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Mô hình AI được huấn luyện để nhận diện các cảnh báo giới hạn tốc độ.</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Thiết lập một kết nối TCP client gửi dữ liệu về Qt khi đọc được biển báo.</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Phát triển ứng dụng Qt/QML</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C++ Backend:</a:t>
            </a:r>
            <a:endParaRPr b="1"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Lớp SerialManager mở </a:t>
            </a:r>
            <a:r>
              <a:rPr lang="en-US" sz="1200">
                <a:solidFill>
                  <a:schemeClr val="dk1"/>
                </a:solidFill>
                <a:latin typeface="Times New Roman"/>
                <a:ea typeface="Times New Roman"/>
                <a:cs typeface="Times New Roman"/>
                <a:sym typeface="Times New Roman"/>
              </a:rPr>
              <a:t>cổng</a:t>
            </a:r>
            <a:r>
              <a:rPr lang="en-US" sz="1200">
                <a:solidFill>
                  <a:schemeClr val="dk1"/>
                </a:solidFill>
                <a:latin typeface="Times New Roman"/>
                <a:ea typeface="Times New Roman"/>
                <a:cs typeface="Times New Roman"/>
                <a:sym typeface="Times New Roman"/>
              </a:rPr>
              <a:t> serial, kết nối ESP32 và phát tín hiệu signalChanged khi có tín hiệu mới.</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Lớp NetworkManager khởi động máy chủ TCP trên cổng 65432 và phát tín hiệu dataReceived khi nhận dữ liệu từ Raspberry.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79a455b801_9_18"/>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IV.  Thiết kế hệ thống</a:t>
            </a:r>
            <a:endParaRPr>
              <a:latin typeface="Times New Roman"/>
              <a:ea typeface="Times New Roman"/>
              <a:cs typeface="Times New Roman"/>
              <a:sym typeface="Times New Roman"/>
            </a:endParaRPr>
          </a:p>
        </p:txBody>
      </p:sp>
      <p:sp>
        <p:nvSpPr>
          <p:cNvPr id="208" name="Google Shape;208;g379a455b801_9_18"/>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	Triển khai và tích hợp</a:t>
            </a:r>
            <a:endParaRPr sz="2100">
              <a:solidFill>
                <a:srgbClr val="FF0000"/>
              </a:solidFill>
              <a:latin typeface="Times New Roman"/>
              <a:ea typeface="Times New Roman"/>
              <a:cs typeface="Times New Roman"/>
              <a:sym typeface="Times New Roman"/>
            </a:endParaRPr>
          </a:p>
        </p:txBody>
      </p:sp>
      <p:sp>
        <p:nvSpPr>
          <p:cNvPr id="209" name="Google Shape;209;g379a455b801_9_18"/>
          <p:cNvSpPr txBox="1"/>
          <p:nvPr/>
        </p:nvSpPr>
        <p:spPr>
          <a:xfrm>
            <a:off x="223025" y="1461450"/>
            <a:ext cx="8921100" cy="22872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QML Frontend:</a:t>
            </a:r>
            <a:endParaRPr b="1"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Dùng </a:t>
            </a:r>
            <a:r>
              <a:rPr lang="en-US" sz="1200">
                <a:solidFill>
                  <a:schemeClr val="dk1"/>
                </a:solidFill>
                <a:latin typeface="Times New Roman"/>
                <a:ea typeface="Times New Roman"/>
                <a:cs typeface="Times New Roman"/>
                <a:sym typeface="Times New Roman"/>
              </a:rPr>
              <a:t>Connections</a:t>
            </a:r>
            <a:r>
              <a:rPr lang="en-US" sz="1200">
                <a:solidFill>
                  <a:schemeClr val="dk1"/>
                </a:solidFill>
                <a:latin typeface="Times New Roman"/>
                <a:ea typeface="Times New Roman"/>
                <a:cs typeface="Times New Roman"/>
                <a:sym typeface="Times New Roman"/>
              </a:rPr>
              <a:t> block để bắt tín hiệu từ SerialManager và NetworkManager.</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Dữ liệu từ SerialManager cập nhật đèn báo và góc quay kim đồng hồ.</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Khi nhận dữ liệu từ NetworkManager, nó sẽ sử dụng lênh Switch để kiểm tra giá trị tốc độ và thay đổi thuộc tính Source của đối tượng Image và hiển thị biển báo tương ứng.</a:t>
            </a:r>
            <a:endParaRPr sz="1200">
              <a:solidFill>
                <a:schemeClr val="dk1"/>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Cơ chế </a:t>
            </a:r>
            <a:r>
              <a:rPr b="1" lang="en-US" sz="1200">
                <a:solidFill>
                  <a:schemeClr val="dk1"/>
                </a:solidFill>
                <a:latin typeface="Times New Roman"/>
                <a:ea typeface="Times New Roman"/>
                <a:cs typeface="Times New Roman"/>
                <a:sym typeface="Times New Roman"/>
              </a:rPr>
              <a:t>signals và slots</a:t>
            </a:r>
            <a:r>
              <a:rPr lang="en-US" sz="1200">
                <a:solidFill>
                  <a:schemeClr val="dk1"/>
                </a:solidFill>
                <a:latin typeface="Times New Roman"/>
                <a:ea typeface="Times New Roman"/>
                <a:cs typeface="Times New Roman"/>
                <a:sym typeface="Times New Roman"/>
              </a:rPr>
              <a:t> đảm bảo việc cập nhật giao diện được thực hiện an toàn trên luồng chính của ứng dụng.</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79a455b801_9_25"/>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V.  Kết quả và đánh giá hiệu suất</a:t>
            </a:r>
            <a:endParaRPr>
              <a:latin typeface="Times New Roman"/>
              <a:ea typeface="Times New Roman"/>
              <a:cs typeface="Times New Roman"/>
              <a:sym typeface="Times New Roman"/>
            </a:endParaRPr>
          </a:p>
        </p:txBody>
      </p:sp>
      <p:sp>
        <p:nvSpPr>
          <p:cNvPr id="215" name="Google Shape;215;g379a455b801_9_25"/>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1</a:t>
            </a:r>
            <a:r>
              <a:rPr lang="en-US" sz="2100">
                <a:solidFill>
                  <a:srgbClr val="FF0000"/>
                </a:solidFill>
                <a:latin typeface="Times New Roman"/>
                <a:ea typeface="Times New Roman"/>
                <a:cs typeface="Times New Roman"/>
                <a:sym typeface="Times New Roman"/>
              </a:rPr>
              <a:t>.	Kết quả</a:t>
            </a:r>
            <a:endParaRPr sz="2100">
              <a:solidFill>
                <a:srgbClr val="FF0000"/>
              </a:solidFill>
              <a:latin typeface="Times New Roman"/>
              <a:ea typeface="Times New Roman"/>
              <a:cs typeface="Times New Roman"/>
              <a:sym typeface="Times New Roman"/>
            </a:endParaRPr>
          </a:p>
        </p:txBody>
      </p:sp>
      <p:sp>
        <p:nvSpPr>
          <p:cNvPr id="216" name="Google Shape;216;g379a455b801_9_25"/>
          <p:cNvSpPr txBox="1"/>
          <p:nvPr/>
        </p:nvSpPr>
        <p:spPr>
          <a:xfrm>
            <a:off x="223025" y="1461450"/>
            <a:ext cx="8921100" cy="38418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Các chức năng đã hoàn thiện theo yêu cầu:</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Hi</a:t>
            </a:r>
            <a:r>
              <a:rPr lang="en-US" sz="1200">
                <a:solidFill>
                  <a:schemeClr val="dk1"/>
                </a:solidFill>
                <a:latin typeface="Times New Roman"/>
                <a:ea typeface="Times New Roman"/>
                <a:cs typeface="Times New Roman"/>
                <a:sym typeface="Times New Roman"/>
              </a:rPr>
              <a:t>ể</a:t>
            </a:r>
            <a:r>
              <a:rPr lang="en-US" sz="1200">
                <a:solidFill>
                  <a:schemeClr val="dk1"/>
                </a:solidFill>
                <a:latin typeface="Times New Roman"/>
                <a:ea typeface="Times New Roman"/>
                <a:cs typeface="Times New Roman"/>
                <a:sym typeface="Times New Roman"/>
              </a:rPr>
              <a:t>n thị thông số hoạt động (Tốc độ &amp; RPM)</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Hiển thị trạng thái xe (Đèn báo hiệu)</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Nhận diện và hiển thị biển báo</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Giao tiếp đa kênh</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Tích hợp mô-đun</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Đánh giá hiệu suất:</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Độ trễ từ ESP32 qua Serial và thời gian phản hồi gần như là tức thời.</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Độ trễ từ Raspberry Pi qua mạng xử lý hình ảnh phức tạp và phụ thuộc vào ba yếu tố:</a:t>
            </a:r>
            <a:endParaRPr sz="1200">
              <a:solidFill>
                <a:schemeClr val="dk1"/>
              </a:solidFill>
              <a:latin typeface="Times New Roman"/>
              <a:ea typeface="Times New Roman"/>
              <a:cs typeface="Times New Roman"/>
              <a:sym typeface="Times New Roman"/>
            </a:endParaRPr>
          </a:p>
          <a:p>
            <a:pPr indent="-304800" lvl="0" marL="9144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Tốc độ xử lý video</a:t>
            </a:r>
            <a:endParaRPr sz="1200">
              <a:solidFill>
                <a:schemeClr val="dk1"/>
              </a:solidFill>
              <a:latin typeface="Times New Roman"/>
              <a:ea typeface="Times New Roman"/>
              <a:cs typeface="Times New Roman"/>
              <a:sym typeface="Times New Roman"/>
            </a:endParaRPr>
          </a:p>
          <a:p>
            <a:pPr indent="-304800" lvl="0" marL="9144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Tốc độ suy luận của AI</a:t>
            </a:r>
            <a:endParaRPr sz="1200">
              <a:solidFill>
                <a:schemeClr val="dk1"/>
              </a:solidFill>
              <a:latin typeface="Times New Roman"/>
              <a:ea typeface="Times New Roman"/>
              <a:cs typeface="Times New Roman"/>
              <a:sym typeface="Times New Roman"/>
            </a:endParaRPr>
          </a:p>
          <a:p>
            <a:pPr indent="-304800" lvl="0" marL="9144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Độ trễ truyền mạng TCP</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Hệ thống được đánh giá cao về khả năng xử lý và phản hồi dữ liệu trong thời gian thực.</a:t>
            </a:r>
            <a:endParaRPr sz="1200">
              <a:solidFill>
                <a:schemeClr val="dk1"/>
              </a:solidFill>
              <a:latin typeface="Times New Roman"/>
              <a:ea typeface="Times New Roman"/>
              <a:cs typeface="Times New Roman"/>
              <a:sym typeface="Times New Roman"/>
            </a:endParaRPr>
          </a:p>
          <a:p>
            <a:pPr indent="-304800" lvl="0" marL="9144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Xử lý đa luồng</a:t>
            </a:r>
            <a:endParaRPr sz="1200">
              <a:solidFill>
                <a:schemeClr val="dk1"/>
              </a:solidFill>
              <a:latin typeface="Times New Roman"/>
              <a:ea typeface="Times New Roman"/>
              <a:cs typeface="Times New Roman"/>
              <a:sym typeface="Times New Roman"/>
            </a:endParaRPr>
          </a:p>
          <a:p>
            <a:pPr indent="-304800" lvl="0" marL="9144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Cơ chế sự kiện</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79a455b801_9_31"/>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V.  Kết quả và đánh giá hiệu suất</a:t>
            </a:r>
            <a:endParaRPr>
              <a:latin typeface="Times New Roman"/>
              <a:ea typeface="Times New Roman"/>
              <a:cs typeface="Times New Roman"/>
              <a:sym typeface="Times New Roman"/>
            </a:endParaRPr>
          </a:p>
        </p:txBody>
      </p:sp>
      <p:sp>
        <p:nvSpPr>
          <p:cNvPr id="222" name="Google Shape;222;g379a455b801_9_31"/>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a:t>
            </a:r>
            <a:r>
              <a:rPr lang="en-US" sz="2100">
                <a:solidFill>
                  <a:srgbClr val="FF0000"/>
                </a:solidFill>
                <a:latin typeface="Times New Roman"/>
                <a:ea typeface="Times New Roman"/>
                <a:cs typeface="Times New Roman"/>
                <a:sym typeface="Times New Roman"/>
              </a:rPr>
              <a:t>.</a:t>
            </a:r>
            <a:r>
              <a:rPr lang="en-US" sz="2100">
                <a:solidFill>
                  <a:srgbClr val="FF0000"/>
                </a:solidFill>
                <a:latin typeface="Times New Roman"/>
                <a:ea typeface="Times New Roman"/>
                <a:cs typeface="Times New Roman"/>
                <a:sym typeface="Times New Roman"/>
              </a:rPr>
              <a:t>	Hoàn thiện sản phẩm</a:t>
            </a:r>
            <a:endParaRPr sz="2100">
              <a:solidFill>
                <a:srgbClr val="FF0000"/>
              </a:solidFill>
              <a:latin typeface="Times New Roman"/>
              <a:ea typeface="Times New Roman"/>
              <a:cs typeface="Times New Roman"/>
              <a:sym typeface="Times New Roman"/>
            </a:endParaRPr>
          </a:p>
        </p:txBody>
      </p:sp>
      <p:sp>
        <p:nvSpPr>
          <p:cNvPr id="223" name="Google Shape;223;g379a455b801_9_31"/>
          <p:cNvSpPr txBox="1"/>
          <p:nvPr/>
        </p:nvSpPr>
        <p:spPr>
          <a:xfrm>
            <a:off x="223025" y="1461450"/>
            <a:ext cx="8921100" cy="16356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Giao diện khởi động:</a:t>
            </a:r>
            <a:r>
              <a:rPr lang="en-US" sz="1200">
                <a:solidFill>
                  <a:schemeClr val="dk1"/>
                </a:solidFill>
                <a:latin typeface="Times New Roman"/>
                <a:ea typeface="Times New Roman"/>
                <a:cs typeface="Times New Roman"/>
                <a:sym typeface="Times New Roman"/>
              </a:rPr>
              <a:t> Giao diện này được bật lên khi khởi động ô tô, gồm một nút nhấn ở giữa giao diện, khi nhấn thì sẽ đưa người dùng đến với giao diện chính.</a:t>
            </a:r>
            <a:endParaRPr b="1"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pic>
        <p:nvPicPr>
          <p:cNvPr id="224" name="Google Shape;224;g379a455b801_9_31"/>
          <p:cNvPicPr preferRelativeResize="0"/>
          <p:nvPr/>
        </p:nvPicPr>
        <p:blipFill rotWithShape="1">
          <a:blip r:embed="rId3">
            <a:alphaModFix/>
          </a:blip>
          <a:srcRect b="0" l="0" r="0" t="1980"/>
          <a:stretch/>
        </p:blipFill>
        <p:spPr>
          <a:xfrm>
            <a:off x="2409825" y="2032075"/>
            <a:ext cx="4324350" cy="2057400"/>
          </a:xfrm>
          <a:prstGeom prst="rect">
            <a:avLst/>
          </a:prstGeom>
          <a:noFill/>
          <a:ln>
            <a:noFill/>
          </a:ln>
        </p:spPr>
      </p:pic>
      <p:sp>
        <p:nvSpPr>
          <p:cNvPr id="225" name="Google Shape;225;g379a455b801_9_31"/>
          <p:cNvSpPr txBox="1"/>
          <p:nvPr/>
        </p:nvSpPr>
        <p:spPr>
          <a:xfrm>
            <a:off x="3856625" y="4294325"/>
            <a:ext cx="1653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Giao diện khởi động</a:t>
            </a:r>
            <a:endParaRPr i="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79a455b801_9_40"/>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V.  Kết quả và đánh giá hiệu suất</a:t>
            </a:r>
            <a:endParaRPr>
              <a:latin typeface="Times New Roman"/>
              <a:ea typeface="Times New Roman"/>
              <a:cs typeface="Times New Roman"/>
              <a:sym typeface="Times New Roman"/>
            </a:endParaRPr>
          </a:p>
        </p:txBody>
      </p:sp>
      <p:sp>
        <p:nvSpPr>
          <p:cNvPr id="231" name="Google Shape;231;g379a455b801_9_40"/>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	Hoàn thiện sản phẩm</a:t>
            </a:r>
            <a:endParaRPr sz="2100">
              <a:solidFill>
                <a:srgbClr val="FF0000"/>
              </a:solidFill>
              <a:latin typeface="Times New Roman"/>
              <a:ea typeface="Times New Roman"/>
              <a:cs typeface="Times New Roman"/>
              <a:sym typeface="Times New Roman"/>
            </a:endParaRPr>
          </a:p>
        </p:txBody>
      </p:sp>
      <p:sp>
        <p:nvSpPr>
          <p:cNvPr id="232" name="Google Shape;232;g379a455b801_9_40"/>
          <p:cNvSpPr txBox="1"/>
          <p:nvPr/>
        </p:nvSpPr>
        <p:spPr>
          <a:xfrm>
            <a:off x="223025" y="1461450"/>
            <a:ext cx="8921100" cy="16356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Giao diện điều khiển chính: </a:t>
            </a:r>
            <a:r>
              <a:rPr lang="en-US" sz="1200">
                <a:solidFill>
                  <a:schemeClr val="dk1"/>
                </a:solidFill>
                <a:latin typeface="Times New Roman"/>
                <a:ea typeface="Times New Roman"/>
                <a:cs typeface="Times New Roman"/>
                <a:sym typeface="Times New Roman"/>
              </a:rPr>
              <a:t>Giao diện này gồm các button điều khiển đèn xe, đèn pha, đèn xi nhan, đèn hazard, hiển thị nhiệt độ khoang lái và biển báo giới hạn tốc độ.</a:t>
            </a:r>
            <a:endParaRPr b="1"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
        <p:nvSpPr>
          <p:cNvPr id="233" name="Google Shape;233;g379a455b801_9_40"/>
          <p:cNvSpPr txBox="1"/>
          <p:nvPr/>
        </p:nvSpPr>
        <p:spPr>
          <a:xfrm>
            <a:off x="3722975" y="4303650"/>
            <a:ext cx="192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Giao diện điều khiển chính</a:t>
            </a:r>
            <a:endParaRPr i="1" sz="1200">
              <a:solidFill>
                <a:schemeClr val="dk1"/>
              </a:solidFill>
              <a:latin typeface="Times New Roman"/>
              <a:ea typeface="Times New Roman"/>
              <a:cs typeface="Times New Roman"/>
              <a:sym typeface="Times New Roman"/>
            </a:endParaRPr>
          </a:p>
        </p:txBody>
      </p:sp>
      <p:pic>
        <p:nvPicPr>
          <p:cNvPr id="234" name="Google Shape;234;g379a455b801_9_40"/>
          <p:cNvPicPr preferRelativeResize="0"/>
          <p:nvPr/>
        </p:nvPicPr>
        <p:blipFill>
          <a:blip r:embed="rId3">
            <a:alphaModFix/>
          </a:blip>
          <a:stretch>
            <a:fillRect/>
          </a:stretch>
        </p:blipFill>
        <p:spPr>
          <a:xfrm>
            <a:off x="2514600" y="2036325"/>
            <a:ext cx="4114800" cy="2181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79a455b801_9_50"/>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V.  Kết quả và đánh giá hiệu suất</a:t>
            </a:r>
            <a:endParaRPr>
              <a:latin typeface="Times New Roman"/>
              <a:ea typeface="Times New Roman"/>
              <a:cs typeface="Times New Roman"/>
              <a:sym typeface="Times New Roman"/>
            </a:endParaRPr>
          </a:p>
        </p:txBody>
      </p:sp>
      <p:sp>
        <p:nvSpPr>
          <p:cNvPr id="240" name="Google Shape;240;g379a455b801_9_50"/>
          <p:cNvSpPr txBox="1"/>
          <p:nvPr/>
        </p:nvSpPr>
        <p:spPr>
          <a:xfrm>
            <a:off x="223025" y="953550"/>
            <a:ext cx="3342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2.	Hoàn thiện sản phẩm</a:t>
            </a:r>
            <a:endParaRPr sz="2100">
              <a:solidFill>
                <a:srgbClr val="FF0000"/>
              </a:solidFill>
              <a:latin typeface="Times New Roman"/>
              <a:ea typeface="Times New Roman"/>
              <a:cs typeface="Times New Roman"/>
              <a:sym typeface="Times New Roman"/>
            </a:endParaRPr>
          </a:p>
        </p:txBody>
      </p:sp>
      <p:sp>
        <p:nvSpPr>
          <p:cNvPr id="241" name="Google Shape;241;g379a455b801_9_50"/>
          <p:cNvSpPr txBox="1"/>
          <p:nvPr/>
        </p:nvSpPr>
        <p:spPr>
          <a:xfrm>
            <a:off x="223025" y="1461450"/>
            <a:ext cx="4517700" cy="1828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Times New Roman"/>
              <a:buChar char="-"/>
            </a:pPr>
            <a:r>
              <a:rPr b="1" lang="en-US" sz="1200">
                <a:solidFill>
                  <a:schemeClr val="dk1"/>
                </a:solidFill>
                <a:latin typeface="Times New Roman"/>
                <a:ea typeface="Times New Roman"/>
                <a:cs typeface="Times New Roman"/>
                <a:sym typeface="Times New Roman"/>
              </a:rPr>
              <a:t>Sơ đồ nguyên lý và hình ảnh mạch in mô phỏng</a:t>
            </a:r>
            <a:r>
              <a:rPr lang="en-US" sz="1200">
                <a:solidFill>
                  <a:schemeClr val="dk1"/>
                </a:solidFill>
                <a:latin typeface="Times New Roman"/>
                <a:ea typeface="Times New Roman"/>
                <a:cs typeface="Times New Roman"/>
                <a:sym typeface="Times New Roman"/>
              </a:rPr>
              <a:t>: sơ đồ nguyên lý và mạch in được vẽ bằng phần mềm Altium. Cho thấy các linh kiện được kết nối với nhau và kết nối vào Esp32 với các chân GPIO tương ứng dễ dàng cho việc lập trình.</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
        <p:nvSpPr>
          <p:cNvPr id="242" name="Google Shape;242;g379a455b801_9_50"/>
          <p:cNvSpPr txBox="1"/>
          <p:nvPr/>
        </p:nvSpPr>
        <p:spPr>
          <a:xfrm>
            <a:off x="6351463" y="3393775"/>
            <a:ext cx="192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Sơ đồ mạch in phần cứng</a:t>
            </a:r>
            <a:endParaRPr i="1" sz="1200">
              <a:solidFill>
                <a:schemeClr val="dk1"/>
              </a:solidFill>
              <a:latin typeface="Times New Roman"/>
              <a:ea typeface="Times New Roman"/>
              <a:cs typeface="Times New Roman"/>
              <a:sym typeface="Times New Roman"/>
            </a:endParaRPr>
          </a:p>
        </p:txBody>
      </p:sp>
      <p:pic>
        <p:nvPicPr>
          <p:cNvPr id="243" name="Google Shape;243;g379a455b801_9_50"/>
          <p:cNvPicPr preferRelativeResize="0"/>
          <p:nvPr/>
        </p:nvPicPr>
        <p:blipFill>
          <a:blip r:embed="rId3">
            <a:alphaModFix/>
          </a:blip>
          <a:stretch>
            <a:fillRect/>
          </a:stretch>
        </p:blipFill>
        <p:spPr>
          <a:xfrm>
            <a:off x="5543089" y="953562"/>
            <a:ext cx="3537924" cy="2378913"/>
          </a:xfrm>
          <a:prstGeom prst="rect">
            <a:avLst/>
          </a:prstGeom>
          <a:noFill/>
          <a:ln>
            <a:noFill/>
          </a:ln>
        </p:spPr>
      </p:pic>
      <p:pic>
        <p:nvPicPr>
          <p:cNvPr id="244" name="Google Shape;244;g379a455b801_9_50"/>
          <p:cNvPicPr preferRelativeResize="0"/>
          <p:nvPr/>
        </p:nvPicPr>
        <p:blipFill>
          <a:blip r:embed="rId4">
            <a:alphaModFix/>
          </a:blip>
          <a:stretch>
            <a:fillRect/>
          </a:stretch>
        </p:blipFill>
        <p:spPr>
          <a:xfrm>
            <a:off x="223025" y="2442150"/>
            <a:ext cx="2037750" cy="1607225"/>
          </a:xfrm>
          <a:prstGeom prst="rect">
            <a:avLst/>
          </a:prstGeom>
          <a:noFill/>
          <a:ln>
            <a:noFill/>
          </a:ln>
        </p:spPr>
      </p:pic>
      <p:pic>
        <p:nvPicPr>
          <p:cNvPr id="245" name="Google Shape;245;g379a455b801_9_50"/>
          <p:cNvPicPr preferRelativeResize="0"/>
          <p:nvPr/>
        </p:nvPicPr>
        <p:blipFill>
          <a:blip r:embed="rId5">
            <a:alphaModFix/>
          </a:blip>
          <a:stretch>
            <a:fillRect/>
          </a:stretch>
        </p:blipFill>
        <p:spPr>
          <a:xfrm>
            <a:off x="2702975" y="2437938"/>
            <a:ext cx="2037750" cy="1615644"/>
          </a:xfrm>
          <a:prstGeom prst="rect">
            <a:avLst/>
          </a:prstGeom>
          <a:noFill/>
          <a:ln>
            <a:noFill/>
          </a:ln>
        </p:spPr>
      </p:pic>
      <p:sp>
        <p:nvSpPr>
          <p:cNvPr id="246" name="Google Shape;246;g379a455b801_9_50"/>
          <p:cNvSpPr txBox="1"/>
          <p:nvPr/>
        </p:nvSpPr>
        <p:spPr>
          <a:xfrm>
            <a:off x="281300" y="4120150"/>
            <a:ext cx="1921200" cy="2682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         </a:t>
            </a:r>
            <a:r>
              <a:rPr i="1" lang="en-US" sz="4800">
                <a:solidFill>
                  <a:schemeClr val="dk1"/>
                </a:solidFill>
                <a:latin typeface="Times New Roman"/>
                <a:ea typeface="Times New Roman"/>
                <a:cs typeface="Times New Roman"/>
                <a:sym typeface="Times New Roman"/>
              </a:rPr>
              <a:t>Sơ đồ thiết kế mạch</a:t>
            </a:r>
            <a:endParaRPr i="1" sz="4800">
              <a:solidFill>
                <a:schemeClr val="dk1"/>
              </a:solidFill>
              <a:latin typeface="Times New Roman"/>
              <a:ea typeface="Times New Roman"/>
              <a:cs typeface="Times New Roman"/>
              <a:sym typeface="Times New Roman"/>
            </a:endParaRPr>
          </a:p>
        </p:txBody>
      </p:sp>
      <p:sp>
        <p:nvSpPr>
          <p:cNvPr id="247" name="Google Shape;247;g379a455b801_9_50"/>
          <p:cNvSpPr txBox="1"/>
          <p:nvPr/>
        </p:nvSpPr>
        <p:spPr>
          <a:xfrm>
            <a:off x="2702975" y="4091950"/>
            <a:ext cx="1737600" cy="3693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i="1" lang="en-US" sz="1200">
                <a:solidFill>
                  <a:schemeClr val="dk1"/>
                </a:solidFill>
                <a:latin typeface="Times New Roman"/>
                <a:ea typeface="Times New Roman"/>
                <a:cs typeface="Times New Roman"/>
                <a:sym typeface="Times New Roman"/>
              </a:rPr>
              <a:t>Bo mạch PCB</a:t>
            </a:r>
            <a:endParaRPr i="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9a455b801_9_61"/>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V.  Kết </a:t>
            </a:r>
            <a:r>
              <a:rPr lang="en-US" sz="2800">
                <a:solidFill>
                  <a:schemeClr val="accent1"/>
                </a:solidFill>
                <a:latin typeface="Times New Roman"/>
                <a:ea typeface="Times New Roman"/>
                <a:cs typeface="Times New Roman"/>
                <a:sym typeface="Times New Roman"/>
              </a:rPr>
              <a:t>quả và đánh giá hiệu suất</a:t>
            </a:r>
            <a:endParaRPr>
              <a:latin typeface="Times New Roman"/>
              <a:ea typeface="Times New Roman"/>
              <a:cs typeface="Times New Roman"/>
              <a:sym typeface="Times New Roman"/>
            </a:endParaRPr>
          </a:p>
        </p:txBody>
      </p:sp>
      <p:sp>
        <p:nvSpPr>
          <p:cNvPr id="253" name="Google Shape;253;g379a455b801_9_61"/>
          <p:cNvSpPr txBox="1"/>
          <p:nvPr/>
        </p:nvSpPr>
        <p:spPr>
          <a:xfrm>
            <a:off x="223025" y="953550"/>
            <a:ext cx="4309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FF0000"/>
                </a:solidFill>
                <a:latin typeface="Times New Roman"/>
                <a:ea typeface="Times New Roman"/>
                <a:cs typeface="Times New Roman"/>
                <a:sym typeface="Times New Roman"/>
              </a:rPr>
              <a:t>3</a:t>
            </a:r>
            <a:r>
              <a:rPr lang="en-US" sz="2100">
                <a:solidFill>
                  <a:srgbClr val="FF0000"/>
                </a:solidFill>
                <a:latin typeface="Times New Roman"/>
                <a:ea typeface="Times New Roman"/>
                <a:cs typeface="Times New Roman"/>
                <a:sym typeface="Times New Roman"/>
              </a:rPr>
              <a:t>.	Hạn chế và hướng phát triển</a:t>
            </a:r>
            <a:endParaRPr sz="2100">
              <a:solidFill>
                <a:srgbClr val="FF0000"/>
              </a:solidFill>
              <a:latin typeface="Times New Roman"/>
              <a:ea typeface="Times New Roman"/>
              <a:cs typeface="Times New Roman"/>
              <a:sym typeface="Times New Roman"/>
            </a:endParaRPr>
          </a:p>
        </p:txBody>
      </p:sp>
      <p:sp>
        <p:nvSpPr>
          <p:cNvPr id="254" name="Google Shape;254;g379a455b801_9_61"/>
          <p:cNvSpPr txBox="1"/>
          <p:nvPr/>
        </p:nvSpPr>
        <p:spPr>
          <a:xfrm>
            <a:off x="223025" y="1461450"/>
            <a:ext cx="8921100" cy="30108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Hạn chế:</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Độ chính xác của nhận diện biển báo trong điều kiện thực tế, hiệu suất có thể bị giảm do các yếu tố như ánh sáng, góc chụp hoặc biến báo bị khuất hoặc mờ.</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Khả năng tương thích của Qt/QML có thể gặp khó khăn về tài nguyên khi triển khai trực tiếp lên các nền tảng nhúng như Raspberry Pi</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Hệ thống giao tiếp NetworkManager chỉ chấp nhận một kết nối client tại một thời điểm. Hạn chế khả năng mở rộng nếu cần kết nối nhiều thiết bị cùng lúc.</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en-US" sz="1200">
                <a:solidFill>
                  <a:schemeClr val="dk1"/>
                </a:solidFill>
                <a:latin typeface="Times New Roman"/>
                <a:ea typeface="Times New Roman"/>
                <a:cs typeface="Times New Roman"/>
                <a:sym typeface="Times New Roman"/>
              </a:rPr>
              <a:t>Hướng phát triển:</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Cải thiện mô hình nhận diện AI với tệp dữ liệu lớn hơn để tăng tốc </a:t>
            </a:r>
            <a:r>
              <a:rPr lang="en-US" sz="1200">
                <a:solidFill>
                  <a:schemeClr val="dk1"/>
                </a:solidFill>
                <a:latin typeface="Times New Roman"/>
                <a:ea typeface="Times New Roman"/>
                <a:cs typeface="Times New Roman"/>
                <a:sym typeface="Times New Roman"/>
              </a:rPr>
              <a:t>độ</a:t>
            </a:r>
            <a:r>
              <a:rPr lang="en-US" sz="1200">
                <a:solidFill>
                  <a:schemeClr val="dk1"/>
                </a:solidFill>
                <a:latin typeface="Times New Roman"/>
                <a:ea typeface="Times New Roman"/>
                <a:cs typeface="Times New Roman"/>
                <a:sym typeface="Times New Roman"/>
              </a:rPr>
              <a:t> suy luận và chính xác.</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Mở rộng phạm vi nhận diện như biển báo giao thông khác và đèn tín hiệu giao thông.</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Kết nối hệ thống với mạng CAN bus của xe để đọc dữ liệu thực tế về tốc độ, vòng tua máy,... Thay vì chỉ dựa vào dữ liệu mô phỏng từ ESP32 sẽ biến sản phẩm từ mô phỏng thành một giải pháp thực tế.</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79a455b801_9_69"/>
          <p:cNvSpPr txBox="1"/>
          <p:nvPr>
            <p:ph type="title"/>
          </p:nvPr>
        </p:nvSpPr>
        <p:spPr>
          <a:xfrm>
            <a:off x="223025" y="414152"/>
            <a:ext cx="7886700" cy="539400"/>
          </a:xfrm>
          <a:prstGeom prst="rect">
            <a:avLst/>
          </a:prstGeom>
          <a:noFill/>
          <a:ln>
            <a:noFill/>
          </a:ln>
        </p:spPr>
        <p:txBody>
          <a:bodyPr anchorCtr="0" anchor="b" bIns="34275" lIns="68575" spcFirstLastPara="1" rIns="68575" wrap="square" tIns="34275">
            <a:normAutofit/>
          </a:bodyPr>
          <a:lstStyle/>
          <a:p>
            <a:pPr indent="0" lvl="0" marL="0" rtl="0" algn="l">
              <a:lnSpc>
                <a:spcPct val="100000"/>
              </a:lnSpc>
              <a:spcBef>
                <a:spcPts val="0"/>
              </a:spcBef>
              <a:spcAft>
                <a:spcPts val="0"/>
              </a:spcAft>
              <a:buSzPts val="4500"/>
              <a:buNone/>
            </a:pPr>
            <a:r>
              <a:rPr lang="en-US" sz="2800">
                <a:solidFill>
                  <a:schemeClr val="accent1"/>
                </a:solidFill>
                <a:latin typeface="Times New Roman"/>
                <a:ea typeface="Times New Roman"/>
                <a:cs typeface="Times New Roman"/>
                <a:sym typeface="Times New Roman"/>
              </a:rPr>
              <a:t>VI.  Kết luận</a:t>
            </a:r>
            <a:endParaRPr>
              <a:latin typeface="Times New Roman"/>
              <a:ea typeface="Times New Roman"/>
              <a:cs typeface="Times New Roman"/>
              <a:sym typeface="Times New Roman"/>
            </a:endParaRPr>
          </a:p>
        </p:txBody>
      </p:sp>
      <p:sp>
        <p:nvSpPr>
          <p:cNvPr id="260" name="Google Shape;260;g379a455b801_9_69"/>
          <p:cNvSpPr txBox="1"/>
          <p:nvPr/>
        </p:nvSpPr>
        <p:spPr>
          <a:xfrm>
            <a:off x="223025" y="993250"/>
            <a:ext cx="8921100" cy="182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latin typeface="Times New Roman"/>
                <a:ea typeface="Times New Roman"/>
                <a:cs typeface="Times New Roman"/>
                <a:sym typeface="Times New Roman"/>
              </a:rPr>
              <a:t>Kết luận:</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Đề tài đã hoàn thành mục tiêu xây dựng hệ thống bảng điều khiển xe hơi kỹ thuật số hiển thị dữ liệu thời gian thực, tích hợp công nghệ thị giác máy tính, học máy và IoT với giao diện Qt/QML trực quan, phản hồi nhanh, thiết kế module linh hoạt và ổn định. Mặc dù còn hạn chế về độ chính xác và tính năng, hệ thống là nền tảng cho việc mở rộng với CAN bus và nhận diện biển báo nâng cao, hướng tới ứng dụng thực tiễn trong hỗ trợ lái xe thông minh.</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9"/>
          <p:cNvSpPr txBox="1"/>
          <p:nvPr>
            <p:ph type="ctrTitle"/>
          </p:nvPr>
        </p:nvSpPr>
        <p:spPr>
          <a:xfrm>
            <a:off x="1143000" y="1953451"/>
            <a:ext cx="6858000" cy="12366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SzPct val="100000"/>
              <a:buNone/>
            </a:pPr>
            <a:r>
              <a:rPr b="1" lang="en-US">
                <a:latin typeface="Times New Roman"/>
                <a:ea typeface="Times New Roman"/>
                <a:cs typeface="Times New Roman"/>
                <a:sym typeface="Times New Roman"/>
              </a:rPr>
              <a:t>THANK YOU FOR LISTENING</a:t>
            </a:r>
            <a:endParaRPr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